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Montserrat Bold" charset="1" panose="00000800000000000000"/>
      <p:regular r:id="rId37"/>
    </p:embeddedFont>
    <p:embeddedFont>
      <p:font typeface="Montserrat Bold Italics" charset="1" panose="00000800000000000000"/>
      <p:regular r:id="rId38"/>
    </p:embeddedFont>
    <p:embeddedFont>
      <p:font typeface="Montserrat Ultra-Bold" charset="1" panose="00000900000000000000"/>
      <p:regular r:id="rId39"/>
    </p:embeddedFont>
    <p:embeddedFont>
      <p:font typeface="Montserrat Italics" charset="1" panose="00000500000000000000"/>
      <p:regular r:id="rId40"/>
    </p:embeddedFont>
    <p:embeddedFont>
      <p:font typeface="Canva Sans" charset="1" panose="020B0503030501040103"/>
      <p:regular r:id="rId41"/>
    </p:embeddedFont>
    <p:embeddedFont>
      <p:font typeface="Canva Sans Bold" charset="1" panose="020B0803030501040103"/>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grpSp>
        <p:nvGrpSpPr>
          <p:cNvPr name="Group 2" id="2"/>
          <p:cNvGrpSpPr/>
          <p:nvPr/>
        </p:nvGrpSpPr>
        <p:grpSpPr>
          <a:xfrm rot="0">
            <a:off x="5854559" y="4562459"/>
            <a:ext cx="6578882" cy="1023974"/>
            <a:chOff x="0" y="0"/>
            <a:chExt cx="1732710" cy="269689"/>
          </a:xfrm>
        </p:grpSpPr>
        <p:sp>
          <p:nvSpPr>
            <p:cNvPr name="Freeform 3" id="3"/>
            <p:cNvSpPr/>
            <p:nvPr/>
          </p:nvSpPr>
          <p:spPr>
            <a:xfrm flipH="false" flipV="false" rot="0">
              <a:off x="0" y="0"/>
              <a:ext cx="1732710" cy="269689"/>
            </a:xfrm>
            <a:custGeom>
              <a:avLst/>
              <a:gdLst/>
              <a:ahLst/>
              <a:cxnLst/>
              <a:rect r="r" b="b" t="t" l="l"/>
              <a:pathLst>
                <a:path h="269689" w="1732710">
                  <a:moveTo>
                    <a:pt x="0" y="0"/>
                  </a:moveTo>
                  <a:lnTo>
                    <a:pt x="1732710" y="0"/>
                  </a:lnTo>
                  <a:lnTo>
                    <a:pt x="1732710" y="269689"/>
                  </a:lnTo>
                  <a:lnTo>
                    <a:pt x="0" y="269689"/>
                  </a:lnTo>
                  <a:close/>
                </a:path>
              </a:pathLst>
            </a:custGeom>
            <a:ln w="38100" cap="sq">
              <a:solidFill>
                <a:srgbClr val="182F5B"/>
              </a:solidFill>
              <a:prstDash val="solid"/>
              <a:miter/>
            </a:ln>
          </p:spPr>
        </p:sp>
        <p:sp>
          <p:nvSpPr>
            <p:cNvPr name="TextBox 4" id="4"/>
            <p:cNvSpPr txBox="true"/>
            <p:nvPr/>
          </p:nvSpPr>
          <p:spPr>
            <a:xfrm>
              <a:off x="0" y="-38100"/>
              <a:ext cx="1732710" cy="30778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596235" y="7727202"/>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2243781" y="7703002"/>
            <a:ext cx="3272481" cy="3272481"/>
            <a:chOff x="0" y="0"/>
            <a:chExt cx="861888" cy="861888"/>
          </a:xfrm>
        </p:grpSpPr>
        <p:sp>
          <p:nvSpPr>
            <p:cNvPr name="Freeform 14" id="14"/>
            <p:cNvSpPr/>
            <p:nvPr/>
          </p:nvSpPr>
          <p:spPr>
            <a:xfrm flipH="false" flipV="false" rot="0">
              <a:off x="0" y="0"/>
              <a:ext cx="861888" cy="861888"/>
            </a:xfrm>
            <a:custGeom>
              <a:avLst/>
              <a:gdLst/>
              <a:ahLst/>
              <a:cxnLst/>
              <a:rect r="r" b="b" t="t" l="l"/>
              <a:pathLst>
                <a:path h="861888" w="861888">
                  <a:moveTo>
                    <a:pt x="0" y="0"/>
                  </a:moveTo>
                  <a:lnTo>
                    <a:pt x="861888" y="0"/>
                  </a:lnTo>
                  <a:lnTo>
                    <a:pt x="861888" y="861888"/>
                  </a:lnTo>
                  <a:lnTo>
                    <a:pt x="0" y="861888"/>
                  </a:lnTo>
                  <a:close/>
                </a:path>
              </a:pathLst>
            </a:custGeom>
            <a:solidFill>
              <a:srgbClr val="446EB2"/>
            </a:solidFill>
          </p:spPr>
        </p:sp>
        <p:sp>
          <p:nvSpPr>
            <p:cNvPr name="TextBox 15" id="15"/>
            <p:cNvSpPr txBox="true"/>
            <p:nvPr/>
          </p:nvSpPr>
          <p:spPr>
            <a:xfrm>
              <a:off x="0" y="-38100"/>
              <a:ext cx="861888" cy="89998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7259300" y="-688483"/>
            <a:ext cx="3272481" cy="3272481"/>
            <a:chOff x="0" y="0"/>
            <a:chExt cx="861888" cy="861888"/>
          </a:xfrm>
        </p:grpSpPr>
        <p:sp>
          <p:nvSpPr>
            <p:cNvPr name="Freeform 17" id="17"/>
            <p:cNvSpPr/>
            <p:nvPr/>
          </p:nvSpPr>
          <p:spPr>
            <a:xfrm flipH="false" flipV="false" rot="0">
              <a:off x="0" y="0"/>
              <a:ext cx="861888" cy="861888"/>
            </a:xfrm>
            <a:custGeom>
              <a:avLst/>
              <a:gdLst/>
              <a:ahLst/>
              <a:cxnLst/>
              <a:rect r="r" b="b" t="t" l="l"/>
              <a:pathLst>
                <a:path h="861888" w="861888">
                  <a:moveTo>
                    <a:pt x="0" y="0"/>
                  </a:moveTo>
                  <a:lnTo>
                    <a:pt x="861888" y="0"/>
                  </a:lnTo>
                  <a:lnTo>
                    <a:pt x="861888" y="861888"/>
                  </a:lnTo>
                  <a:lnTo>
                    <a:pt x="0" y="861888"/>
                  </a:lnTo>
                  <a:close/>
                </a:path>
              </a:pathLst>
            </a:custGeom>
            <a:solidFill>
              <a:srgbClr val="446EB2"/>
            </a:solidFill>
          </p:spPr>
        </p:sp>
        <p:sp>
          <p:nvSpPr>
            <p:cNvPr name="TextBox 18" id="18"/>
            <p:cNvSpPr txBox="true"/>
            <p:nvPr/>
          </p:nvSpPr>
          <p:spPr>
            <a:xfrm>
              <a:off x="0" y="-38100"/>
              <a:ext cx="861888" cy="899988"/>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2462848" y="380270"/>
            <a:ext cx="13362304" cy="854075"/>
          </a:xfrm>
          <a:prstGeom prst="rect">
            <a:avLst/>
          </a:prstGeom>
        </p:spPr>
        <p:txBody>
          <a:bodyPr anchor="t" rtlCol="false" tIns="0" lIns="0" bIns="0" rIns="0">
            <a:spAutoFit/>
          </a:bodyPr>
          <a:lstStyle/>
          <a:p>
            <a:pPr algn="ctr">
              <a:lnSpc>
                <a:spcPts val="7000"/>
              </a:lnSpc>
            </a:pPr>
            <a:r>
              <a:rPr lang="en-US" b="true" sz="5000">
                <a:solidFill>
                  <a:srgbClr val="182F5B"/>
                </a:solidFill>
                <a:latin typeface="Montserrat Bold"/>
                <a:ea typeface="Montserrat Bold"/>
                <a:cs typeface="Montserrat Bold"/>
                <a:sym typeface="Montserrat Bold"/>
              </a:rPr>
              <a:t>MINI PROJECT</a:t>
            </a:r>
          </a:p>
        </p:txBody>
      </p:sp>
      <p:sp>
        <p:nvSpPr>
          <p:cNvPr name="TextBox 20" id="20"/>
          <p:cNvSpPr txBox="true"/>
          <p:nvPr/>
        </p:nvSpPr>
        <p:spPr>
          <a:xfrm rot="0">
            <a:off x="6245186" y="4655346"/>
            <a:ext cx="5797628" cy="762000"/>
          </a:xfrm>
          <a:prstGeom prst="rect">
            <a:avLst/>
          </a:prstGeom>
        </p:spPr>
        <p:txBody>
          <a:bodyPr anchor="t" rtlCol="false" tIns="0" lIns="0" bIns="0" rIns="0">
            <a:spAutoFit/>
          </a:bodyPr>
          <a:lstStyle/>
          <a:p>
            <a:pPr algn="ctr">
              <a:lnSpc>
                <a:spcPts val="6299"/>
              </a:lnSpc>
            </a:pPr>
            <a:r>
              <a:rPr lang="en-US" b="true" sz="4500" i="true">
                <a:solidFill>
                  <a:srgbClr val="182F5B"/>
                </a:solidFill>
                <a:latin typeface="Montserrat Bold Italics"/>
                <a:ea typeface="Montserrat Bold Italics"/>
                <a:cs typeface="Montserrat Bold Italics"/>
                <a:sym typeface="Montserrat Bold Italics"/>
              </a:rPr>
              <a:t>Nhóm 2</a:t>
            </a:r>
          </a:p>
        </p:txBody>
      </p:sp>
      <p:sp>
        <p:nvSpPr>
          <p:cNvPr name="TextBox 21" id="21"/>
          <p:cNvSpPr txBox="true"/>
          <p:nvPr/>
        </p:nvSpPr>
        <p:spPr>
          <a:xfrm rot="0">
            <a:off x="-607540" y="1063327"/>
            <a:ext cx="19503081" cy="3592019"/>
          </a:xfrm>
          <a:prstGeom prst="rect">
            <a:avLst/>
          </a:prstGeom>
        </p:spPr>
        <p:txBody>
          <a:bodyPr anchor="t" rtlCol="false" tIns="0" lIns="0" bIns="0" rIns="0">
            <a:spAutoFit/>
          </a:bodyPr>
          <a:lstStyle/>
          <a:p>
            <a:pPr algn="ctr">
              <a:lnSpc>
                <a:spcPts val="29424"/>
              </a:lnSpc>
            </a:pPr>
            <a:r>
              <a:rPr lang="en-US" b="true" sz="21017">
                <a:solidFill>
                  <a:srgbClr val="182F5B"/>
                </a:solidFill>
                <a:latin typeface="Montserrat Ultra-Bold"/>
                <a:ea typeface="Montserrat Ultra-Bold"/>
                <a:cs typeface="Montserrat Ultra-Bold"/>
                <a:sym typeface="Montserrat Ultra-Bold"/>
              </a:rPr>
              <a:t>BINGO</a:t>
            </a:r>
          </a:p>
        </p:txBody>
      </p:sp>
      <p:sp>
        <p:nvSpPr>
          <p:cNvPr name="TextBox 22" id="22"/>
          <p:cNvSpPr txBox="true"/>
          <p:nvPr/>
        </p:nvSpPr>
        <p:spPr>
          <a:xfrm rot="0">
            <a:off x="4381420" y="5898422"/>
            <a:ext cx="9862096" cy="3590884"/>
          </a:xfrm>
          <a:prstGeom prst="rect">
            <a:avLst/>
          </a:prstGeom>
        </p:spPr>
        <p:txBody>
          <a:bodyPr anchor="t" rtlCol="false" tIns="0" lIns="0" bIns="0" rIns="0">
            <a:spAutoFit/>
          </a:bodyPr>
          <a:lstStyle/>
          <a:p>
            <a:pPr algn="ctr">
              <a:lnSpc>
                <a:spcPts val="4747"/>
              </a:lnSpc>
            </a:pPr>
            <a:r>
              <a:rPr lang="en-US" sz="3391" i="true" u="sng">
                <a:solidFill>
                  <a:srgbClr val="182F5B"/>
                </a:solidFill>
                <a:latin typeface="Montserrat Italics"/>
                <a:ea typeface="Montserrat Italics"/>
                <a:cs typeface="Montserrat Italics"/>
                <a:sym typeface="Montserrat Italics"/>
              </a:rPr>
              <a:t>Thành viên:</a:t>
            </a:r>
          </a:p>
          <a:p>
            <a:pPr algn="ctr">
              <a:lnSpc>
                <a:spcPts val="4747"/>
              </a:lnSpc>
            </a:pPr>
            <a:r>
              <a:rPr lang="en-US" sz="3391" i="true">
                <a:solidFill>
                  <a:srgbClr val="182F5B"/>
                </a:solidFill>
                <a:latin typeface="Montserrat Italics"/>
                <a:ea typeface="Montserrat Italics"/>
                <a:cs typeface="Montserrat Italics"/>
                <a:sym typeface="Montserrat Italics"/>
              </a:rPr>
              <a:t>Lê Trung Minh Khánh</a:t>
            </a:r>
          </a:p>
          <a:p>
            <a:pPr algn="ctr">
              <a:lnSpc>
                <a:spcPts val="4747"/>
              </a:lnSpc>
            </a:pPr>
            <a:r>
              <a:rPr lang="en-US" sz="3391" i="true">
                <a:solidFill>
                  <a:srgbClr val="182F5B"/>
                </a:solidFill>
                <a:latin typeface="Montserrat Italics"/>
                <a:ea typeface="Montserrat Italics"/>
                <a:cs typeface="Montserrat Italics"/>
                <a:sym typeface="Montserrat Italics"/>
              </a:rPr>
              <a:t>Trịnh Duy Bình</a:t>
            </a:r>
          </a:p>
          <a:p>
            <a:pPr algn="ctr">
              <a:lnSpc>
                <a:spcPts val="4747"/>
              </a:lnSpc>
            </a:pPr>
            <a:r>
              <a:rPr lang="en-US" sz="3391" i="true">
                <a:solidFill>
                  <a:srgbClr val="182F5B"/>
                </a:solidFill>
                <a:latin typeface="Montserrat Italics"/>
                <a:ea typeface="Montserrat Italics"/>
                <a:cs typeface="Montserrat Italics"/>
                <a:sym typeface="Montserrat Italics"/>
              </a:rPr>
              <a:t>Nguyễn Thị Hương Giang</a:t>
            </a:r>
          </a:p>
          <a:p>
            <a:pPr algn="ctr">
              <a:lnSpc>
                <a:spcPts val="4747"/>
              </a:lnSpc>
            </a:pPr>
            <a:r>
              <a:rPr lang="en-US" sz="3391" i="true">
                <a:solidFill>
                  <a:srgbClr val="182F5B"/>
                </a:solidFill>
                <a:latin typeface="Montserrat Italics"/>
                <a:ea typeface="Montserrat Italics"/>
                <a:cs typeface="Montserrat Italics"/>
                <a:sym typeface="Montserrat Italics"/>
              </a:rPr>
              <a:t>Hoàng Văn Khoa</a:t>
            </a:r>
          </a:p>
          <a:p>
            <a:pPr algn="ctr">
              <a:lnSpc>
                <a:spcPts val="4747"/>
              </a:lnSpc>
            </a:pPr>
            <a:r>
              <a:rPr lang="en-US" sz="3391" i="true">
                <a:solidFill>
                  <a:srgbClr val="182F5B"/>
                </a:solidFill>
                <a:latin typeface="Montserrat Italics"/>
                <a:ea typeface="Montserrat Italics"/>
                <a:cs typeface="Montserrat Italics"/>
                <a:sym typeface="Montserrat Italics"/>
              </a:rPr>
              <a:t>Dương Tuấn Nguyên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765" y="1176268"/>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5274358" y="9110732"/>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7596235" y="7727202"/>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354017" y="533299"/>
            <a:ext cx="9579966" cy="1616924"/>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GIỚI THIỆU</a:t>
            </a:r>
          </a:p>
        </p:txBody>
      </p:sp>
      <p:grpSp>
        <p:nvGrpSpPr>
          <p:cNvPr name="Group 17" id="17"/>
          <p:cNvGrpSpPr/>
          <p:nvPr/>
        </p:nvGrpSpPr>
        <p:grpSpPr>
          <a:xfrm rot="0">
            <a:off x="1288666" y="2150223"/>
            <a:ext cx="15349699" cy="2147523"/>
            <a:chOff x="0" y="0"/>
            <a:chExt cx="20466265" cy="2863364"/>
          </a:xfrm>
        </p:grpSpPr>
        <p:sp>
          <p:nvSpPr>
            <p:cNvPr name="TextBox 18" id="18"/>
            <p:cNvSpPr txBox="true"/>
            <p:nvPr/>
          </p:nvSpPr>
          <p:spPr>
            <a:xfrm rot="0">
              <a:off x="0" y="857494"/>
              <a:ext cx="20466265" cy="2005870"/>
            </a:xfrm>
            <a:prstGeom prst="rect">
              <a:avLst/>
            </a:prstGeom>
          </p:spPr>
          <p:txBody>
            <a:bodyPr anchor="t" rtlCol="false" tIns="0" lIns="0" bIns="0" rIns="0">
              <a:spAutoFit/>
            </a:bodyPr>
            <a:lstStyle/>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Thẻ</a:t>
              </a:r>
              <a:r>
                <a:rPr lang="en-US" sz="2927">
                  <a:solidFill>
                    <a:srgbClr val="182F5B"/>
                  </a:solidFill>
                  <a:latin typeface="Canva Sans"/>
                  <a:ea typeface="Canva Sans"/>
                  <a:cs typeface="Canva Sans"/>
                  <a:sym typeface="Canva Sans"/>
                </a:rPr>
                <a:t> bingo: Mỗi người chơi có một thẻ, là một bảng 5×5 (25 ô), trong đó các ô dùng để chứa con số ngẫu nhiên (ví dụ từ 1–99, tùy phiên bản).</a:t>
              </a:r>
            </a:p>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Bộ số quay: Gồm các viên số tương ứng (1–99).</a:t>
              </a:r>
            </a:p>
          </p:txBody>
        </p:sp>
        <p:sp>
          <p:nvSpPr>
            <p:cNvPr name="TextBox 19" id="19"/>
            <p:cNvSpPr txBox="true"/>
            <p:nvPr/>
          </p:nvSpPr>
          <p:spPr>
            <a:xfrm rot="0">
              <a:off x="0" y="-47625"/>
              <a:ext cx="4790491" cy="634270"/>
            </a:xfrm>
            <a:prstGeom prst="rect">
              <a:avLst/>
            </a:prstGeom>
          </p:spPr>
          <p:txBody>
            <a:bodyPr anchor="t" rtlCol="false" tIns="0" lIns="0" bIns="0" rIns="0">
              <a:spAutoFit/>
            </a:bodyPr>
            <a:lstStyle/>
            <a:p>
              <a:pPr algn="l">
                <a:lnSpc>
                  <a:spcPts val="4098"/>
                </a:lnSpc>
              </a:pPr>
              <a:r>
                <a:rPr lang="en-US" sz="2927" b="true">
                  <a:solidFill>
                    <a:srgbClr val="182F5B"/>
                  </a:solidFill>
                  <a:latin typeface="Canva Sans Bold"/>
                  <a:ea typeface="Canva Sans Bold"/>
                  <a:cs typeface="Canva Sans Bold"/>
                  <a:sym typeface="Canva Sans Bold"/>
                </a:rPr>
                <a:t>1.</a:t>
              </a:r>
              <a:r>
                <a:rPr lang="en-US" sz="2927" b="true">
                  <a:solidFill>
                    <a:srgbClr val="182F5B"/>
                  </a:solidFill>
                  <a:latin typeface="Canva Sans Bold"/>
                  <a:ea typeface="Canva Sans Bold"/>
                  <a:cs typeface="Canva Sans Bold"/>
                  <a:sym typeface="Canva Sans Bold"/>
                </a:rPr>
                <a:t> Dụng cụ trò chơi</a:t>
              </a:r>
            </a:p>
          </p:txBody>
        </p:sp>
      </p:grpSp>
      <p:grpSp>
        <p:nvGrpSpPr>
          <p:cNvPr name="Group 20" id="20"/>
          <p:cNvGrpSpPr/>
          <p:nvPr/>
        </p:nvGrpSpPr>
        <p:grpSpPr>
          <a:xfrm rot="0">
            <a:off x="1314596" y="4360103"/>
            <a:ext cx="15569303" cy="5257926"/>
            <a:chOff x="0" y="0"/>
            <a:chExt cx="20759071" cy="7010568"/>
          </a:xfrm>
        </p:grpSpPr>
        <p:sp>
          <p:nvSpPr>
            <p:cNvPr name="TextBox 21" id="21"/>
            <p:cNvSpPr txBox="true"/>
            <p:nvPr/>
          </p:nvSpPr>
          <p:spPr>
            <a:xfrm rot="0">
              <a:off x="0" y="889898"/>
              <a:ext cx="20759071" cy="6120670"/>
            </a:xfrm>
            <a:prstGeom prst="rect">
              <a:avLst/>
            </a:prstGeom>
          </p:spPr>
          <p:txBody>
            <a:bodyPr anchor="t" rtlCol="false" tIns="0" lIns="0" bIns="0" rIns="0">
              <a:spAutoFit/>
            </a:bodyPr>
            <a:lstStyle/>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Người chơi chọn 24 số</a:t>
              </a:r>
              <a:r>
                <a:rPr lang="en-US" sz="2927">
                  <a:solidFill>
                    <a:srgbClr val="182F5B"/>
                  </a:solidFill>
                  <a:latin typeface="Canva Sans"/>
                  <a:ea typeface="Canva Sans"/>
                  <a:cs typeface="Canva Sans"/>
                  <a:sym typeface="Canva Sans"/>
                </a:rPr>
                <a:t> bất kỳ từ 1-99 sau đó sắp xếp ngẫu nhiên vào 24 ô trong bảng, người quản trò sẽ có quyền đánh một dấu X vào một ô bất kỳ trong bảng nếu ô đó đã có người chơi chọn thì ô đó chứa dấu X và số người chơi đã chọn sẽ chuyển vào ô trống còn lại trong bảng.</a:t>
              </a:r>
            </a:p>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Người quản trò rút ngẫu nhiên từng số và đọc lớn cho người chơi nghe.</a:t>
              </a:r>
            </a:p>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Người chơi đối chiếu số vừa hô với các số trên bảng của mình, nếu có số trùng, người chơi đánh dấu ô đó.</a:t>
              </a:r>
            </a:p>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Nếu người chơi được một hàng ngang, một hàng dọc(5 ô liên tiếp), thì người chơi đó thắng.               </a:t>
              </a:r>
            </a:p>
          </p:txBody>
        </p:sp>
        <p:sp>
          <p:nvSpPr>
            <p:cNvPr name="TextBox 22" id="22"/>
            <p:cNvSpPr txBox="true"/>
            <p:nvPr/>
          </p:nvSpPr>
          <p:spPr>
            <a:xfrm rot="0">
              <a:off x="0" y="-47625"/>
              <a:ext cx="4290806" cy="634270"/>
            </a:xfrm>
            <a:prstGeom prst="rect">
              <a:avLst/>
            </a:prstGeom>
          </p:spPr>
          <p:txBody>
            <a:bodyPr anchor="t" rtlCol="false" tIns="0" lIns="0" bIns="0" rIns="0">
              <a:spAutoFit/>
            </a:bodyPr>
            <a:lstStyle/>
            <a:p>
              <a:pPr algn="l">
                <a:lnSpc>
                  <a:spcPts val="4098"/>
                </a:lnSpc>
              </a:pPr>
              <a:r>
                <a:rPr lang="en-US" sz="2927" b="true">
                  <a:solidFill>
                    <a:srgbClr val="182F5B"/>
                  </a:solidFill>
                  <a:latin typeface="Canva Sans Bold"/>
                  <a:ea typeface="Canva Sans Bold"/>
                  <a:cs typeface="Canva Sans Bold"/>
                  <a:sym typeface="Canva Sans Bold"/>
                </a:rPr>
                <a:t>2.</a:t>
              </a:r>
              <a:r>
                <a:rPr lang="en-US" sz="2927" b="true">
                  <a:solidFill>
                    <a:srgbClr val="182F5B"/>
                  </a:solidFill>
                  <a:latin typeface="Canva Sans Bold"/>
                  <a:ea typeface="Canva Sans Bold"/>
                  <a:cs typeface="Canva Sans Bold"/>
                  <a:sym typeface="Canva Sans Bold"/>
                </a:rPr>
                <a:t> Cách chơi</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765" y="1176268"/>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7596235" y="7727202"/>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354017" y="619000"/>
            <a:ext cx="9579966" cy="1616924"/>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GIỚI THIỆU</a:t>
            </a:r>
          </a:p>
        </p:txBody>
      </p:sp>
      <p:grpSp>
        <p:nvGrpSpPr>
          <p:cNvPr name="Group 17" id="17"/>
          <p:cNvGrpSpPr/>
          <p:nvPr/>
        </p:nvGrpSpPr>
        <p:grpSpPr>
          <a:xfrm rot="0">
            <a:off x="1625601" y="2559798"/>
            <a:ext cx="14202571" cy="1023129"/>
            <a:chOff x="0" y="0"/>
            <a:chExt cx="18936761" cy="1364172"/>
          </a:xfrm>
        </p:grpSpPr>
        <p:sp>
          <p:nvSpPr>
            <p:cNvPr name="TextBox 18" id="18"/>
            <p:cNvSpPr txBox="true"/>
            <p:nvPr/>
          </p:nvSpPr>
          <p:spPr>
            <a:xfrm rot="0">
              <a:off x="1112303" y="729902"/>
              <a:ext cx="17824458" cy="634270"/>
            </a:xfrm>
            <a:prstGeom prst="rect">
              <a:avLst/>
            </a:prstGeom>
          </p:spPr>
          <p:txBody>
            <a:bodyPr anchor="t" rtlCol="false" tIns="0" lIns="0" bIns="0" rIns="0">
              <a:spAutoFit/>
            </a:bodyPr>
            <a:lstStyle/>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Vá</a:t>
              </a:r>
              <a:r>
                <a:rPr lang="en-US" sz="2927">
                  <a:solidFill>
                    <a:srgbClr val="182F5B"/>
                  </a:solidFill>
                  <a:latin typeface="Canva Sans"/>
                  <a:ea typeface="Canva Sans"/>
                  <a:cs typeface="Canva Sans"/>
                  <a:sym typeface="Canva Sans"/>
                </a:rPr>
                <a:t>n chơi kết thúc khi có người thắng hợp lệ.</a:t>
              </a:r>
            </a:p>
          </p:txBody>
        </p:sp>
        <p:sp>
          <p:nvSpPr>
            <p:cNvPr name="TextBox 19" id="19"/>
            <p:cNvSpPr txBox="true"/>
            <p:nvPr/>
          </p:nvSpPr>
          <p:spPr>
            <a:xfrm rot="0">
              <a:off x="0" y="-47625"/>
              <a:ext cx="4172129" cy="634270"/>
            </a:xfrm>
            <a:prstGeom prst="rect">
              <a:avLst/>
            </a:prstGeom>
          </p:spPr>
          <p:txBody>
            <a:bodyPr anchor="t" rtlCol="false" tIns="0" lIns="0" bIns="0" rIns="0">
              <a:spAutoFit/>
            </a:bodyPr>
            <a:lstStyle/>
            <a:p>
              <a:pPr algn="l">
                <a:lnSpc>
                  <a:spcPts val="4098"/>
                </a:lnSpc>
              </a:pPr>
              <a:r>
                <a:rPr lang="en-US" sz="2927" b="true">
                  <a:solidFill>
                    <a:srgbClr val="182F5B"/>
                  </a:solidFill>
                  <a:latin typeface="Canva Sans Bold"/>
                  <a:ea typeface="Canva Sans Bold"/>
                  <a:cs typeface="Canva Sans Bold"/>
                  <a:sym typeface="Canva Sans Bold"/>
                </a:rPr>
                <a:t>3.</a:t>
              </a:r>
              <a:r>
                <a:rPr lang="en-US" sz="2927" b="true">
                  <a:solidFill>
                    <a:srgbClr val="182F5B"/>
                  </a:solidFill>
                  <a:latin typeface="Canva Sans Bold"/>
                  <a:ea typeface="Canva Sans Bold"/>
                  <a:cs typeface="Canva Sans Bold"/>
                  <a:sym typeface="Canva Sans Bold"/>
                </a:rPr>
                <a:t> Kết thúc ván</a:t>
              </a:r>
            </a:p>
          </p:txBody>
        </p:sp>
      </p:grpSp>
      <p:grpSp>
        <p:nvGrpSpPr>
          <p:cNvPr name="Group 20" id="20"/>
          <p:cNvGrpSpPr/>
          <p:nvPr/>
        </p:nvGrpSpPr>
        <p:grpSpPr>
          <a:xfrm rot="0">
            <a:off x="1625601" y="3785727"/>
            <a:ext cx="14202571" cy="2051829"/>
            <a:chOff x="0" y="0"/>
            <a:chExt cx="18936761" cy="2735772"/>
          </a:xfrm>
        </p:grpSpPr>
        <p:sp>
          <p:nvSpPr>
            <p:cNvPr name="TextBox 21" id="21"/>
            <p:cNvSpPr txBox="true"/>
            <p:nvPr/>
          </p:nvSpPr>
          <p:spPr>
            <a:xfrm rot="0">
              <a:off x="1112303" y="729902"/>
              <a:ext cx="17824458" cy="2005870"/>
            </a:xfrm>
            <a:prstGeom prst="rect">
              <a:avLst/>
            </a:prstGeom>
          </p:spPr>
          <p:txBody>
            <a:bodyPr anchor="t" rtlCol="false" tIns="0" lIns="0" bIns="0" rIns="0">
              <a:spAutoFit/>
            </a:bodyPr>
            <a:lstStyle/>
            <a:p>
              <a:pPr algn="l" marL="632113" indent="-316057" lvl="1">
                <a:lnSpc>
                  <a:spcPts val="4098"/>
                </a:lnSpc>
                <a:buFont typeface="Arial"/>
                <a:buChar char="•"/>
              </a:pPr>
              <a:r>
                <a:rPr lang="en-US" sz="2927">
                  <a:solidFill>
                    <a:srgbClr val="182F5B"/>
                  </a:solidFill>
                  <a:latin typeface="Canva Sans"/>
                  <a:ea typeface="Canva Sans"/>
                  <a:cs typeface="Canva Sans"/>
                  <a:sym typeface="Canva Sans"/>
                </a:rPr>
                <a:t>Số</a:t>
              </a:r>
              <a:r>
                <a:rPr lang="en-US" sz="2927">
                  <a:solidFill>
                    <a:srgbClr val="182F5B"/>
                  </a:solidFill>
                  <a:latin typeface="Canva Sans"/>
                  <a:ea typeface="Canva Sans"/>
                  <a:cs typeface="Canva Sans"/>
                  <a:sym typeface="Canva Sans"/>
                </a:rPr>
                <a:t> tiền thưởng sẽ dựa vào số lượng của những viên số được bốc ra nếu số lượng các viên số bốc ra càng nhiều thì tỉ lệ thưởng cho người chơi càng thấp.</a:t>
              </a:r>
            </a:p>
          </p:txBody>
        </p:sp>
        <p:sp>
          <p:nvSpPr>
            <p:cNvPr name="TextBox 22" id="22"/>
            <p:cNvSpPr txBox="true"/>
            <p:nvPr/>
          </p:nvSpPr>
          <p:spPr>
            <a:xfrm rot="0">
              <a:off x="0" y="-47625"/>
              <a:ext cx="4172129" cy="634270"/>
            </a:xfrm>
            <a:prstGeom prst="rect">
              <a:avLst/>
            </a:prstGeom>
          </p:spPr>
          <p:txBody>
            <a:bodyPr anchor="t" rtlCol="false" tIns="0" lIns="0" bIns="0" rIns="0">
              <a:spAutoFit/>
            </a:bodyPr>
            <a:lstStyle/>
            <a:p>
              <a:pPr algn="l">
                <a:lnSpc>
                  <a:spcPts val="4098"/>
                </a:lnSpc>
              </a:pPr>
              <a:r>
                <a:rPr lang="en-US" sz="2927" b="true">
                  <a:solidFill>
                    <a:srgbClr val="182F5B"/>
                  </a:solidFill>
                  <a:latin typeface="Canva Sans Bold"/>
                  <a:ea typeface="Canva Sans Bold"/>
                  <a:cs typeface="Canva Sans Bold"/>
                  <a:sym typeface="Canva Sans Bold"/>
                </a:rPr>
                <a:t>4.</a:t>
              </a:r>
              <a:r>
                <a:rPr lang="en-US" sz="2927" b="true">
                  <a:solidFill>
                    <a:srgbClr val="182F5B"/>
                  </a:solidFill>
                  <a:latin typeface="Canva Sans Bold"/>
                  <a:ea typeface="Canva Sans Bold"/>
                  <a:cs typeface="Canva Sans Bold"/>
                  <a:sym typeface="Canva Sans Bold"/>
                </a:rPr>
                <a:t> Tiền thưởng</a:t>
              </a:r>
            </a:p>
          </p:txBody>
        </p:sp>
      </p:grpSp>
      <p:grpSp>
        <p:nvGrpSpPr>
          <p:cNvPr name="Group 23" id="23"/>
          <p:cNvGrpSpPr/>
          <p:nvPr/>
        </p:nvGrpSpPr>
        <p:grpSpPr>
          <a:xfrm rot="0">
            <a:off x="1625601" y="6037581"/>
            <a:ext cx="15457192" cy="3586183"/>
            <a:chOff x="0" y="0"/>
            <a:chExt cx="20609589" cy="4781577"/>
          </a:xfrm>
        </p:grpSpPr>
        <p:sp>
          <p:nvSpPr>
            <p:cNvPr name="TextBox 24" id="24"/>
            <p:cNvSpPr txBox="true"/>
            <p:nvPr/>
          </p:nvSpPr>
          <p:spPr>
            <a:xfrm rot="0">
              <a:off x="0" y="783744"/>
              <a:ext cx="20609589" cy="3997832"/>
            </a:xfrm>
            <a:prstGeom prst="rect">
              <a:avLst/>
            </a:prstGeom>
          </p:spPr>
          <p:txBody>
            <a:bodyPr anchor="t" rtlCol="false" tIns="0" lIns="0" bIns="0" rIns="0">
              <a:spAutoFit/>
            </a:bodyPr>
            <a:lstStyle/>
            <a:p>
              <a:pPr algn="l" marL="624226" indent="-312113" lvl="1">
                <a:lnSpc>
                  <a:spcPts val="4047"/>
                </a:lnSpc>
                <a:buFont typeface="Arial"/>
                <a:buChar char="•"/>
              </a:pPr>
              <a:r>
                <a:rPr lang="en-US" sz="2891">
                  <a:solidFill>
                    <a:srgbClr val="182F5B"/>
                  </a:solidFill>
                  <a:latin typeface="Canva Sans"/>
                  <a:ea typeface="Canva Sans"/>
                  <a:cs typeface="Canva Sans"/>
                  <a:sym typeface="Canva Sans"/>
                </a:rPr>
                <a:t>Người chơi:</a:t>
              </a:r>
            </a:p>
            <a:p>
              <a:pPr algn="l" marL="1248451" indent="-416150" lvl="2">
                <a:lnSpc>
                  <a:spcPts val="4047"/>
                </a:lnSpc>
                <a:buFont typeface="Arial"/>
                <a:buChar char="⚬"/>
              </a:pPr>
              <a:r>
                <a:rPr lang="en-US" sz="2891">
                  <a:solidFill>
                    <a:srgbClr val="182F5B"/>
                  </a:solidFill>
                  <a:latin typeface="Canva Sans"/>
                  <a:ea typeface="Canva Sans"/>
                  <a:cs typeface="Canva Sans"/>
                  <a:sym typeface="Canva Sans"/>
                </a:rPr>
                <a:t>Tính xác suất nên chọn những số nào để đặt vào phiếu bingo và cần sắp xếp những số nào để tỉ lệ thắng cao nhưng số lượng bốc ra những viên số càng ít.</a:t>
              </a:r>
            </a:p>
            <a:p>
              <a:pPr algn="l" marL="624226" indent="-312113" lvl="1">
                <a:lnSpc>
                  <a:spcPts val="4047"/>
                </a:lnSpc>
                <a:buFont typeface="Arial"/>
                <a:buChar char="•"/>
              </a:pPr>
              <a:r>
                <a:rPr lang="en-US" sz="2891">
                  <a:solidFill>
                    <a:srgbClr val="182F5B"/>
                  </a:solidFill>
                  <a:latin typeface="Canva Sans"/>
                  <a:ea typeface="Canva Sans"/>
                  <a:cs typeface="Canva Sans"/>
                  <a:sym typeface="Canva Sans"/>
                </a:rPr>
                <a:t>Quản trò:</a:t>
              </a:r>
            </a:p>
            <a:p>
              <a:pPr algn="l" marL="1248451" indent="-416150" lvl="2">
                <a:lnSpc>
                  <a:spcPts val="4047"/>
                </a:lnSpc>
                <a:buFont typeface="Arial"/>
                <a:buChar char="⚬"/>
              </a:pPr>
              <a:r>
                <a:rPr lang="en-US" sz="2891">
                  <a:solidFill>
                    <a:srgbClr val="182F5B"/>
                  </a:solidFill>
                  <a:latin typeface="Canva Sans"/>
                  <a:ea typeface="Canva Sans"/>
                  <a:cs typeface="Canva Sans"/>
                  <a:sym typeface="Canva Sans"/>
                </a:rPr>
                <a:t>Cần đặt dấu X ở đâu để hạn chế tối đa việc người chơi bingo sớm</a:t>
              </a:r>
            </a:p>
            <a:p>
              <a:pPr algn="l" marL="1248451" indent="-416150" lvl="2">
                <a:lnSpc>
                  <a:spcPts val="4047"/>
                </a:lnSpc>
                <a:buFont typeface="Arial"/>
                <a:buChar char="⚬"/>
              </a:pPr>
              <a:r>
                <a:rPr lang="en-US" sz="2891">
                  <a:solidFill>
                    <a:srgbClr val="182F5B"/>
                  </a:solidFill>
                  <a:latin typeface="Canva Sans"/>
                  <a:ea typeface="Canva Sans"/>
                  <a:cs typeface="Canva Sans"/>
                  <a:sym typeface="Canva Sans"/>
                </a:rPr>
                <a:t>Cần thiết lập tiền thưởng như thế nào để có thể lời nhất có thể.</a:t>
              </a:r>
            </a:p>
          </p:txBody>
        </p:sp>
        <p:sp>
          <p:nvSpPr>
            <p:cNvPr name="TextBox 25" id="25"/>
            <p:cNvSpPr txBox="true"/>
            <p:nvPr/>
          </p:nvSpPr>
          <p:spPr>
            <a:xfrm rot="0">
              <a:off x="0" y="-47625"/>
              <a:ext cx="7296366" cy="612339"/>
            </a:xfrm>
            <a:prstGeom prst="rect">
              <a:avLst/>
            </a:prstGeom>
          </p:spPr>
          <p:txBody>
            <a:bodyPr anchor="t" rtlCol="false" tIns="0" lIns="0" bIns="0" rIns="0">
              <a:spAutoFit/>
            </a:bodyPr>
            <a:lstStyle/>
            <a:p>
              <a:pPr algn="l">
                <a:lnSpc>
                  <a:spcPts val="3955"/>
                </a:lnSpc>
              </a:pPr>
              <a:r>
                <a:rPr lang="en-US" sz="2825" b="true">
                  <a:solidFill>
                    <a:srgbClr val="182F5B"/>
                  </a:solidFill>
                  <a:latin typeface="Canva Sans Bold"/>
                  <a:ea typeface="Canva Sans Bold"/>
                  <a:cs typeface="Canva Sans Bold"/>
                  <a:sym typeface="Canva Sans Bold"/>
                </a:rPr>
                <a:t>5.Mục</a:t>
              </a:r>
              <a:r>
                <a:rPr lang="en-US" sz="2825" b="true">
                  <a:solidFill>
                    <a:srgbClr val="182F5B"/>
                  </a:solidFill>
                  <a:latin typeface="Canva Sans Bold"/>
                  <a:ea typeface="Canva Sans Bold"/>
                  <a:cs typeface="Canva Sans Bold"/>
                  <a:sym typeface="Canva Sans Bold"/>
                </a:rPr>
                <a:t> đích nghiên cứu </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632742" y="1137430"/>
            <a:ext cx="1102251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MỤC TIÊU</a:t>
            </a:r>
          </a:p>
        </p:txBody>
      </p:sp>
      <p:sp>
        <p:nvSpPr>
          <p:cNvPr name="AutoShape 11" id="11"/>
          <p:cNvSpPr/>
          <p:nvPr/>
        </p:nvSpPr>
        <p:spPr>
          <a:xfrm>
            <a:off x="4227117" y="6016771"/>
            <a:ext cx="9856956" cy="0"/>
          </a:xfrm>
          <a:prstGeom prst="line">
            <a:avLst/>
          </a:prstGeom>
          <a:ln cap="flat" w="28575">
            <a:solidFill>
              <a:srgbClr val="182F5B"/>
            </a:solidFill>
            <a:prstDash val="solid"/>
            <a:headEnd type="none" len="sm" w="sm"/>
            <a:tailEnd type="none" len="sm" w="sm"/>
          </a:ln>
        </p:spPr>
      </p:sp>
      <p:sp>
        <p:nvSpPr>
          <p:cNvPr name="AutoShape 12" id="12"/>
          <p:cNvSpPr/>
          <p:nvPr/>
        </p:nvSpPr>
        <p:spPr>
          <a:xfrm flipH="true">
            <a:off x="4234848" y="5137205"/>
            <a:ext cx="0" cy="895027"/>
          </a:xfrm>
          <a:prstGeom prst="line">
            <a:avLst/>
          </a:prstGeom>
          <a:ln cap="flat" w="28575">
            <a:solidFill>
              <a:srgbClr val="182F5B"/>
            </a:solidFill>
            <a:prstDash val="solid"/>
            <a:headEnd type="oval" len="lg" w="lg"/>
            <a:tailEnd type="none" len="sm" w="sm"/>
          </a:ln>
        </p:spPr>
      </p:sp>
      <p:sp>
        <p:nvSpPr>
          <p:cNvPr name="AutoShape 13" id="13"/>
          <p:cNvSpPr/>
          <p:nvPr/>
        </p:nvSpPr>
        <p:spPr>
          <a:xfrm flipV="true">
            <a:off x="7525402" y="6016771"/>
            <a:ext cx="0" cy="895027"/>
          </a:xfrm>
          <a:prstGeom prst="line">
            <a:avLst/>
          </a:prstGeom>
          <a:ln cap="flat" w="28575">
            <a:solidFill>
              <a:srgbClr val="182F5B"/>
            </a:solidFill>
            <a:prstDash val="solid"/>
            <a:headEnd type="oval" len="lg" w="lg"/>
            <a:tailEnd type="none" len="sm" w="sm"/>
          </a:ln>
        </p:spPr>
      </p:sp>
      <p:sp>
        <p:nvSpPr>
          <p:cNvPr name="AutoShape 14" id="14"/>
          <p:cNvSpPr/>
          <p:nvPr/>
        </p:nvSpPr>
        <p:spPr>
          <a:xfrm flipV="true">
            <a:off x="14068613" y="6016771"/>
            <a:ext cx="0" cy="895027"/>
          </a:xfrm>
          <a:prstGeom prst="line">
            <a:avLst/>
          </a:prstGeom>
          <a:ln cap="flat" w="28575">
            <a:solidFill>
              <a:srgbClr val="182F5B"/>
            </a:solidFill>
            <a:prstDash val="solid"/>
            <a:headEnd type="oval" len="lg" w="lg"/>
            <a:tailEnd type="none" len="sm" w="sm"/>
          </a:ln>
        </p:spPr>
      </p:sp>
      <p:sp>
        <p:nvSpPr>
          <p:cNvPr name="AutoShape 15" id="15"/>
          <p:cNvSpPr/>
          <p:nvPr/>
        </p:nvSpPr>
        <p:spPr>
          <a:xfrm flipH="true">
            <a:off x="10797007" y="5137205"/>
            <a:ext cx="0" cy="895027"/>
          </a:xfrm>
          <a:prstGeom prst="line">
            <a:avLst/>
          </a:prstGeom>
          <a:ln cap="flat" w="28575">
            <a:solidFill>
              <a:srgbClr val="182F5B"/>
            </a:solidFill>
            <a:prstDash val="solid"/>
            <a:headEnd type="oval" len="lg" w="lg"/>
            <a:tailEnd type="none" len="sm" w="sm"/>
          </a:ln>
        </p:spPr>
      </p:sp>
      <p:sp>
        <p:nvSpPr>
          <p:cNvPr name="TextBox 16" id="16"/>
          <p:cNvSpPr txBox="true"/>
          <p:nvPr/>
        </p:nvSpPr>
        <p:spPr>
          <a:xfrm rot="0">
            <a:off x="1702803" y="3782436"/>
            <a:ext cx="6133256" cy="1377698"/>
          </a:xfrm>
          <a:prstGeom prst="rect">
            <a:avLst/>
          </a:prstGeom>
        </p:spPr>
        <p:txBody>
          <a:bodyPr anchor="t" rtlCol="false" tIns="0" lIns="0" bIns="0" rIns="0">
            <a:spAutoFit/>
          </a:bodyPr>
          <a:lstStyle/>
          <a:p>
            <a:pPr algn="l">
              <a:lnSpc>
                <a:spcPts val="3654"/>
              </a:lnSpc>
            </a:pPr>
            <a:r>
              <a:rPr lang="en-US" sz="2610">
                <a:solidFill>
                  <a:srgbClr val="182F5B"/>
                </a:solidFill>
                <a:latin typeface="Canva Sans"/>
                <a:ea typeface="Canva Sans"/>
                <a:cs typeface="Canva Sans"/>
                <a:sym typeface="Canva Sans"/>
              </a:rPr>
              <a:t>Á</a:t>
            </a:r>
            <a:r>
              <a:rPr lang="en-US" sz="2610">
                <a:solidFill>
                  <a:srgbClr val="182F5B"/>
                </a:solidFill>
                <a:latin typeface="Canva Sans"/>
                <a:ea typeface="Canva Sans"/>
                <a:cs typeface="Canva Sans"/>
                <a:sym typeface="Canva Sans"/>
              </a:rPr>
              <a:t>p dụng các nguyên lý OOP để tách biệt hoàn toàn logic trò chơi, tài chính và thống kê.</a:t>
            </a:r>
          </a:p>
        </p:txBody>
      </p:sp>
      <p:sp>
        <p:nvSpPr>
          <p:cNvPr name="TextBox 17" id="17"/>
          <p:cNvSpPr txBox="true"/>
          <p:nvPr/>
        </p:nvSpPr>
        <p:spPr>
          <a:xfrm rot="0">
            <a:off x="250556" y="3715761"/>
            <a:ext cx="1452246" cy="1072889"/>
          </a:xfrm>
          <a:prstGeom prst="rect">
            <a:avLst/>
          </a:prstGeom>
        </p:spPr>
        <p:txBody>
          <a:bodyPr anchor="t" rtlCol="false" tIns="0" lIns="0" bIns="0" rIns="0">
            <a:spAutoFit/>
          </a:bodyPr>
          <a:lstStyle/>
          <a:p>
            <a:pPr algn="ctr">
              <a:lnSpc>
                <a:spcPts val="8744"/>
              </a:lnSpc>
            </a:pPr>
            <a:r>
              <a:rPr lang="en-US" b="true" sz="6246">
                <a:solidFill>
                  <a:srgbClr val="182F5B"/>
                </a:solidFill>
                <a:latin typeface="Montserrat Ultra-Bold"/>
                <a:ea typeface="Montserrat Ultra-Bold"/>
                <a:cs typeface="Montserrat Ultra-Bold"/>
                <a:sym typeface="Montserrat Ultra-Bold"/>
              </a:rPr>
              <a:t>01</a:t>
            </a:r>
          </a:p>
        </p:txBody>
      </p:sp>
      <p:sp>
        <p:nvSpPr>
          <p:cNvPr name="TextBox 18" id="18"/>
          <p:cNvSpPr txBox="true"/>
          <p:nvPr/>
        </p:nvSpPr>
        <p:spPr>
          <a:xfrm rot="0">
            <a:off x="4358865" y="6938734"/>
            <a:ext cx="5969226" cy="1332856"/>
          </a:xfrm>
          <a:prstGeom prst="rect">
            <a:avLst/>
          </a:prstGeom>
        </p:spPr>
        <p:txBody>
          <a:bodyPr anchor="t" rtlCol="false" tIns="0" lIns="0" bIns="0" rIns="0">
            <a:spAutoFit/>
          </a:bodyPr>
          <a:lstStyle/>
          <a:p>
            <a:pPr algn="l">
              <a:lnSpc>
                <a:spcPts val="3556"/>
              </a:lnSpc>
            </a:pPr>
            <a:r>
              <a:rPr lang="en-US" sz="2540">
                <a:solidFill>
                  <a:srgbClr val="182F5B"/>
                </a:solidFill>
                <a:latin typeface="Canva Sans"/>
                <a:ea typeface="Canva Sans"/>
                <a:cs typeface="Canva Sans"/>
                <a:sym typeface="Canva Sans"/>
              </a:rPr>
              <a:t>G</a:t>
            </a:r>
            <a:r>
              <a:rPr lang="en-US" sz="2540">
                <a:solidFill>
                  <a:srgbClr val="182F5B"/>
                </a:solidFill>
                <a:latin typeface="Canva Sans"/>
                <a:ea typeface="Canva Sans"/>
                <a:cs typeface="Canva Sans"/>
                <a:sym typeface="Canva Sans"/>
              </a:rPr>
              <a:t>iải quyết bài toán "nhà cái luôn lời" thông qua thuật toán quét tổ hợp tham số Grid Search.</a:t>
            </a:r>
          </a:p>
        </p:txBody>
      </p:sp>
      <p:sp>
        <p:nvSpPr>
          <p:cNvPr name="TextBox 19" id="19"/>
          <p:cNvSpPr txBox="true"/>
          <p:nvPr/>
        </p:nvSpPr>
        <p:spPr>
          <a:xfrm rot="0">
            <a:off x="2906619" y="6862534"/>
            <a:ext cx="1452246" cy="1072889"/>
          </a:xfrm>
          <a:prstGeom prst="rect">
            <a:avLst/>
          </a:prstGeom>
        </p:spPr>
        <p:txBody>
          <a:bodyPr anchor="t" rtlCol="false" tIns="0" lIns="0" bIns="0" rIns="0">
            <a:spAutoFit/>
          </a:bodyPr>
          <a:lstStyle/>
          <a:p>
            <a:pPr algn="ctr">
              <a:lnSpc>
                <a:spcPts val="8744"/>
              </a:lnSpc>
            </a:pPr>
            <a:r>
              <a:rPr lang="en-US" b="true" sz="6246">
                <a:solidFill>
                  <a:srgbClr val="182F5B"/>
                </a:solidFill>
                <a:latin typeface="Montserrat Ultra-Bold"/>
                <a:ea typeface="Montserrat Ultra-Bold"/>
                <a:cs typeface="Montserrat Ultra-Bold"/>
                <a:sym typeface="Montserrat Ultra-Bold"/>
              </a:rPr>
              <a:t>02</a:t>
            </a:r>
          </a:p>
        </p:txBody>
      </p:sp>
      <p:sp>
        <p:nvSpPr>
          <p:cNvPr name="TextBox 20" id="20"/>
          <p:cNvSpPr txBox="true"/>
          <p:nvPr/>
        </p:nvSpPr>
        <p:spPr>
          <a:xfrm rot="0">
            <a:off x="9573219" y="3566373"/>
            <a:ext cx="6455158" cy="1437482"/>
          </a:xfrm>
          <a:prstGeom prst="rect">
            <a:avLst/>
          </a:prstGeom>
        </p:spPr>
        <p:txBody>
          <a:bodyPr anchor="t" rtlCol="false" tIns="0" lIns="0" bIns="0" rIns="0">
            <a:spAutoFit/>
          </a:bodyPr>
          <a:lstStyle/>
          <a:p>
            <a:pPr algn="l">
              <a:lnSpc>
                <a:spcPts val="3846"/>
              </a:lnSpc>
            </a:pPr>
            <a:r>
              <a:rPr lang="en-US" sz="2747">
                <a:solidFill>
                  <a:srgbClr val="182F5B"/>
                </a:solidFill>
                <a:latin typeface="Canva Sans"/>
                <a:ea typeface="Canva Sans"/>
                <a:cs typeface="Canva Sans"/>
                <a:sym typeface="Canva Sans"/>
              </a:rPr>
              <a:t>Sử dụng</a:t>
            </a:r>
            <a:r>
              <a:rPr lang="en-US" sz="2747">
                <a:solidFill>
                  <a:srgbClr val="182F5B"/>
                </a:solidFill>
                <a:latin typeface="Canva Sans"/>
                <a:ea typeface="Canva Sans"/>
                <a:cs typeface="Canva Sans"/>
                <a:sym typeface="Canva Sans"/>
              </a:rPr>
              <a:t> các bộ sinh số ngẫu nhiên hiện đại (mt19937) để đảm bảo tính minh bạch trong mô phỏng.</a:t>
            </a:r>
          </a:p>
        </p:txBody>
      </p:sp>
      <p:sp>
        <p:nvSpPr>
          <p:cNvPr name="TextBox 21" id="21"/>
          <p:cNvSpPr txBox="true"/>
          <p:nvPr/>
        </p:nvSpPr>
        <p:spPr>
          <a:xfrm rot="0">
            <a:off x="8120973" y="3715761"/>
            <a:ext cx="1452246" cy="1072889"/>
          </a:xfrm>
          <a:prstGeom prst="rect">
            <a:avLst/>
          </a:prstGeom>
        </p:spPr>
        <p:txBody>
          <a:bodyPr anchor="t" rtlCol="false" tIns="0" lIns="0" bIns="0" rIns="0">
            <a:spAutoFit/>
          </a:bodyPr>
          <a:lstStyle/>
          <a:p>
            <a:pPr algn="ctr">
              <a:lnSpc>
                <a:spcPts val="8744"/>
              </a:lnSpc>
            </a:pPr>
            <a:r>
              <a:rPr lang="en-US" b="true" sz="6246">
                <a:solidFill>
                  <a:srgbClr val="182F5B"/>
                </a:solidFill>
                <a:latin typeface="Montserrat Ultra-Bold"/>
                <a:ea typeface="Montserrat Ultra-Bold"/>
                <a:cs typeface="Montserrat Ultra-Bold"/>
                <a:sym typeface="Montserrat Ultra-Bold"/>
              </a:rPr>
              <a:t>03</a:t>
            </a:r>
          </a:p>
        </p:txBody>
      </p:sp>
      <p:sp>
        <p:nvSpPr>
          <p:cNvPr name="TextBox 22" id="22"/>
          <p:cNvSpPr txBox="true"/>
          <p:nvPr/>
        </p:nvSpPr>
        <p:spPr>
          <a:xfrm rot="0">
            <a:off x="11780337" y="6892398"/>
            <a:ext cx="6329104" cy="1379193"/>
          </a:xfrm>
          <a:prstGeom prst="rect">
            <a:avLst/>
          </a:prstGeom>
        </p:spPr>
        <p:txBody>
          <a:bodyPr anchor="t" rtlCol="false" tIns="0" lIns="0" bIns="0" rIns="0">
            <a:spAutoFit/>
          </a:bodyPr>
          <a:lstStyle/>
          <a:p>
            <a:pPr algn="l">
              <a:lnSpc>
                <a:spcPts val="3658"/>
              </a:lnSpc>
            </a:pPr>
            <a:r>
              <a:rPr lang="en-US" sz="2613">
                <a:solidFill>
                  <a:srgbClr val="182F5B"/>
                </a:solidFill>
                <a:latin typeface="Canva Sans"/>
                <a:ea typeface="Canva Sans"/>
                <a:cs typeface="Canva Sans"/>
                <a:sym typeface="Canva Sans"/>
              </a:rPr>
              <a:t>Cung</a:t>
            </a:r>
            <a:r>
              <a:rPr lang="en-US" sz="2613">
                <a:solidFill>
                  <a:srgbClr val="182F5B"/>
                </a:solidFill>
                <a:latin typeface="Canva Sans"/>
                <a:ea typeface="Canva Sans"/>
                <a:cs typeface="Canva Sans"/>
                <a:sym typeface="Canva Sans"/>
              </a:rPr>
              <a:t> cấp các chỉ số Heatmap, BCR và Lucky Numbers để đánh giá tính chiến thuật.</a:t>
            </a:r>
          </a:p>
        </p:txBody>
      </p:sp>
      <p:sp>
        <p:nvSpPr>
          <p:cNvPr name="TextBox 23" id="23"/>
          <p:cNvSpPr txBox="true"/>
          <p:nvPr/>
        </p:nvSpPr>
        <p:spPr>
          <a:xfrm rot="0">
            <a:off x="10328091" y="6984292"/>
            <a:ext cx="1452246" cy="1072889"/>
          </a:xfrm>
          <a:prstGeom prst="rect">
            <a:avLst/>
          </a:prstGeom>
        </p:spPr>
        <p:txBody>
          <a:bodyPr anchor="t" rtlCol="false" tIns="0" lIns="0" bIns="0" rIns="0">
            <a:spAutoFit/>
          </a:bodyPr>
          <a:lstStyle/>
          <a:p>
            <a:pPr algn="ctr">
              <a:lnSpc>
                <a:spcPts val="8744"/>
              </a:lnSpc>
            </a:pPr>
            <a:r>
              <a:rPr lang="en-US" b="true" sz="6246">
                <a:solidFill>
                  <a:srgbClr val="182F5B"/>
                </a:solidFill>
                <a:latin typeface="Montserrat Ultra-Bold"/>
                <a:ea typeface="Montserrat Ultra-Bold"/>
                <a:cs typeface="Montserrat Ultra-Bold"/>
                <a:sym typeface="Montserrat Ultra-Bold"/>
              </a:rPr>
              <a:t>04</a:t>
            </a:r>
          </a:p>
        </p:txBody>
      </p:sp>
      <p:sp>
        <p:nvSpPr>
          <p:cNvPr name="Freeform 24" id="24"/>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36935" y="3454411"/>
            <a:ext cx="10186349" cy="3111919"/>
          </a:xfrm>
          <a:custGeom>
            <a:avLst/>
            <a:gdLst/>
            <a:ahLst/>
            <a:cxnLst/>
            <a:rect r="r" b="b" t="t" l="l"/>
            <a:pathLst>
              <a:path h="3111919" w="10186349">
                <a:moveTo>
                  <a:pt x="0" y="0"/>
                </a:moveTo>
                <a:lnTo>
                  <a:pt x="10186349" y="0"/>
                </a:lnTo>
                <a:lnTo>
                  <a:pt x="10186349" y="3111920"/>
                </a:lnTo>
                <a:lnTo>
                  <a:pt x="0" y="3111920"/>
                </a:lnTo>
                <a:lnTo>
                  <a:pt x="0" y="0"/>
                </a:lnTo>
                <a:close/>
              </a:path>
            </a:pathLst>
          </a:custGeom>
          <a:blipFill>
            <a:blip r:embed="rId4"/>
            <a:stretch>
              <a:fillRect l="0" t="0" r="0" b="0"/>
            </a:stretch>
          </a:blipFill>
        </p:spPr>
      </p:sp>
      <p:sp>
        <p:nvSpPr>
          <p:cNvPr name="Freeform 17" id="17"/>
          <p:cNvSpPr/>
          <p:nvPr/>
        </p:nvSpPr>
        <p:spPr>
          <a:xfrm flipH="false" flipV="false" rot="0">
            <a:off x="8199485" y="7418932"/>
            <a:ext cx="9919044" cy="1691800"/>
          </a:xfrm>
          <a:custGeom>
            <a:avLst/>
            <a:gdLst/>
            <a:ahLst/>
            <a:cxnLst/>
            <a:rect r="r" b="b" t="t" l="l"/>
            <a:pathLst>
              <a:path h="1691800" w="9919044">
                <a:moveTo>
                  <a:pt x="0" y="0"/>
                </a:moveTo>
                <a:lnTo>
                  <a:pt x="9919044" y="0"/>
                </a:lnTo>
                <a:lnTo>
                  <a:pt x="9919044" y="1691800"/>
                </a:lnTo>
                <a:lnTo>
                  <a:pt x="0" y="1691800"/>
                </a:lnTo>
                <a:lnTo>
                  <a:pt x="0" y="0"/>
                </a:lnTo>
                <a:close/>
              </a:path>
            </a:pathLst>
          </a:custGeom>
          <a:blipFill>
            <a:blip r:embed="rId5"/>
            <a:stretch>
              <a:fillRect l="0" t="0" r="0" b="0"/>
            </a:stretch>
          </a:blipFill>
        </p:spPr>
      </p:sp>
      <p:sp>
        <p:nvSpPr>
          <p:cNvPr name="TextBox 18" id="18"/>
          <p:cNvSpPr txBox="true"/>
          <p:nvPr/>
        </p:nvSpPr>
        <p:spPr>
          <a:xfrm rot="0">
            <a:off x="4354017" y="480236"/>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BINGOCARD</a:t>
            </a:r>
          </a:p>
        </p:txBody>
      </p:sp>
      <p:sp>
        <p:nvSpPr>
          <p:cNvPr name="TextBox 19" id="19"/>
          <p:cNvSpPr txBox="true"/>
          <p:nvPr/>
        </p:nvSpPr>
        <p:spPr>
          <a:xfrm rot="0">
            <a:off x="10523284" y="5871747"/>
            <a:ext cx="8257369" cy="1047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Hàm giúp đảm bảo mỗi tờ phiếu luôn có 24 con số khác nhau hoàn toàn.</a:t>
            </a:r>
          </a:p>
        </p:txBody>
      </p:sp>
      <p:sp>
        <p:nvSpPr>
          <p:cNvPr name="TextBox 20" id="20"/>
          <p:cNvSpPr txBox="true"/>
          <p:nvPr/>
        </p:nvSpPr>
        <p:spPr>
          <a:xfrm rot="0">
            <a:off x="504399" y="7361782"/>
            <a:ext cx="6976457" cy="15811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Mỗi</a:t>
            </a:r>
            <a:r>
              <a:rPr lang="en-US" sz="3000">
                <a:solidFill>
                  <a:srgbClr val="182F5B"/>
                </a:solidFill>
                <a:latin typeface="Canva Sans"/>
                <a:ea typeface="Canva Sans"/>
                <a:cs typeface="Canva Sans"/>
                <a:sym typeface="Canva Sans"/>
              </a:rPr>
              <a:t> tờ phiếu sẽ có một vị trí ô "vô hiệu" khác nhau, làm tăng tính ngẫu nhiên của trò chơi</a:t>
            </a:r>
          </a:p>
        </p:txBody>
      </p:sp>
      <p:sp>
        <p:nvSpPr>
          <p:cNvPr name="Freeform 21" id="21"/>
          <p:cNvSpPr/>
          <p:nvPr/>
        </p:nvSpPr>
        <p:spPr>
          <a:xfrm flipH="false" flipV="false" rot="0">
            <a:off x="13385906" y="1403037"/>
            <a:ext cx="3423890" cy="4102749"/>
          </a:xfrm>
          <a:custGeom>
            <a:avLst/>
            <a:gdLst/>
            <a:ahLst/>
            <a:cxnLst/>
            <a:rect r="r" b="b" t="t" l="l"/>
            <a:pathLst>
              <a:path h="4102749" w="3423890">
                <a:moveTo>
                  <a:pt x="0" y="0"/>
                </a:moveTo>
                <a:lnTo>
                  <a:pt x="3423889" y="0"/>
                </a:lnTo>
                <a:lnTo>
                  <a:pt x="3423889" y="4102749"/>
                </a:lnTo>
                <a:lnTo>
                  <a:pt x="0" y="4102749"/>
                </a:lnTo>
                <a:lnTo>
                  <a:pt x="0" y="0"/>
                </a:lnTo>
                <a:close/>
              </a:path>
            </a:pathLst>
          </a:custGeom>
          <a:blipFill>
            <a:blip r:embed="rId6"/>
            <a:stretch>
              <a:fillRect l="-16456" t="-6055" r="-15070" b="-3708"/>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530671" y="1895440"/>
            <a:ext cx="11226659" cy="5223959"/>
          </a:xfrm>
          <a:custGeom>
            <a:avLst/>
            <a:gdLst/>
            <a:ahLst/>
            <a:cxnLst/>
            <a:rect r="r" b="b" t="t" l="l"/>
            <a:pathLst>
              <a:path h="5223959" w="11226659">
                <a:moveTo>
                  <a:pt x="0" y="0"/>
                </a:moveTo>
                <a:lnTo>
                  <a:pt x="11226658" y="0"/>
                </a:lnTo>
                <a:lnTo>
                  <a:pt x="11226658" y="5223959"/>
                </a:lnTo>
                <a:lnTo>
                  <a:pt x="0" y="5223959"/>
                </a:lnTo>
                <a:lnTo>
                  <a:pt x="0" y="0"/>
                </a:lnTo>
                <a:close/>
              </a:path>
            </a:pathLst>
          </a:custGeom>
          <a:blipFill>
            <a:blip r:embed="rId4"/>
            <a:stretch>
              <a:fillRect l="0" t="-2019" r="0" b="-2019"/>
            </a:stretch>
          </a:blipFill>
        </p:spPr>
      </p:sp>
      <p:sp>
        <p:nvSpPr>
          <p:cNvPr name="TextBox 17" id="17"/>
          <p:cNvSpPr txBox="true"/>
          <p:nvPr/>
        </p:nvSpPr>
        <p:spPr>
          <a:xfrm rot="0">
            <a:off x="4354017" y="276122"/>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BINGOCARD</a:t>
            </a:r>
          </a:p>
        </p:txBody>
      </p:sp>
      <p:sp>
        <p:nvSpPr>
          <p:cNvPr name="TextBox 18" id="18"/>
          <p:cNvSpPr txBox="true"/>
          <p:nvPr/>
        </p:nvSpPr>
        <p:spPr>
          <a:xfrm rot="0">
            <a:off x="1906775" y="7504884"/>
            <a:ext cx="14811384" cy="1047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Khi người điều hành bốc được một số, hàm này sẽ quét toàn bộ tờ phiếu. Nếu có số đó, nó sẽ chuyển trạng thái ô đó sang "Đã đánh dấu".</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506755" y="162263"/>
            <a:ext cx="13274490" cy="9787802"/>
          </a:xfrm>
          <a:custGeom>
            <a:avLst/>
            <a:gdLst/>
            <a:ahLst/>
            <a:cxnLst/>
            <a:rect r="r" b="b" t="t" l="l"/>
            <a:pathLst>
              <a:path h="9787802" w="13274490">
                <a:moveTo>
                  <a:pt x="0" y="0"/>
                </a:moveTo>
                <a:lnTo>
                  <a:pt x="13274490" y="0"/>
                </a:lnTo>
                <a:lnTo>
                  <a:pt x="13274490" y="9787802"/>
                </a:lnTo>
                <a:lnTo>
                  <a:pt x="0" y="9787802"/>
                </a:lnTo>
                <a:lnTo>
                  <a:pt x="0" y="0"/>
                </a:lnTo>
                <a:close/>
              </a:path>
            </a:pathLst>
          </a:custGeom>
          <a:blipFill>
            <a:blip r:embed="rId4"/>
            <a:stretch>
              <a:fillRect l="0" t="0" r="-1163"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028700" y="2909638"/>
            <a:ext cx="16704630" cy="2647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Hàm này sử </a:t>
            </a:r>
            <a:r>
              <a:rPr lang="en-US" sz="3000">
                <a:solidFill>
                  <a:srgbClr val="182F5B"/>
                </a:solidFill>
                <a:latin typeface="Canva Sans"/>
                <a:ea typeface="Canva Sans"/>
                <a:cs typeface="Canva Sans"/>
                <a:sym typeface="Canva Sans"/>
              </a:rPr>
              <a:t>dụng các điều kiện logic để in tờ phiếu đẹp mắt trên console:</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Nếu là ô đặc biệt: In chữ X.</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Nếu ô đó nằm trên đường thắng: In trong ngoặc vuông [số] để người dùng dễ nhận biết.</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Nếu chưa đánh dấu: In số bình thường.</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418967"/>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44829" y="2940049"/>
            <a:ext cx="9835348" cy="1707359"/>
          </a:xfrm>
          <a:custGeom>
            <a:avLst/>
            <a:gdLst/>
            <a:ahLst/>
            <a:cxnLst/>
            <a:rect r="r" b="b" t="t" l="l"/>
            <a:pathLst>
              <a:path h="1707359" w="9835348">
                <a:moveTo>
                  <a:pt x="0" y="0"/>
                </a:moveTo>
                <a:lnTo>
                  <a:pt x="9835348" y="0"/>
                </a:lnTo>
                <a:lnTo>
                  <a:pt x="9835348" y="1707359"/>
                </a:lnTo>
                <a:lnTo>
                  <a:pt x="0" y="1707359"/>
                </a:lnTo>
                <a:lnTo>
                  <a:pt x="0" y="0"/>
                </a:lnTo>
                <a:close/>
              </a:path>
            </a:pathLst>
          </a:custGeom>
          <a:blipFill>
            <a:blip r:embed="rId4"/>
            <a:stretch>
              <a:fillRect l="0" t="0" r="0" b="0"/>
            </a:stretch>
          </a:blipFill>
        </p:spPr>
      </p:sp>
      <p:sp>
        <p:nvSpPr>
          <p:cNvPr name="Freeform 13" id="13"/>
          <p:cNvSpPr/>
          <p:nvPr/>
        </p:nvSpPr>
        <p:spPr>
          <a:xfrm flipH="false" flipV="false" rot="0">
            <a:off x="7522437" y="5665073"/>
            <a:ext cx="10688706" cy="3241092"/>
          </a:xfrm>
          <a:custGeom>
            <a:avLst/>
            <a:gdLst/>
            <a:ahLst/>
            <a:cxnLst/>
            <a:rect r="r" b="b" t="t" l="l"/>
            <a:pathLst>
              <a:path h="3241092" w="10688706">
                <a:moveTo>
                  <a:pt x="0" y="0"/>
                </a:moveTo>
                <a:lnTo>
                  <a:pt x="10688706" y="0"/>
                </a:lnTo>
                <a:lnTo>
                  <a:pt x="10688706" y="3241092"/>
                </a:lnTo>
                <a:lnTo>
                  <a:pt x="0" y="3241092"/>
                </a:lnTo>
                <a:lnTo>
                  <a:pt x="0" y="0"/>
                </a:lnTo>
                <a:close/>
              </a:path>
            </a:pathLst>
          </a:custGeom>
          <a:blipFill>
            <a:blip r:embed="rId5"/>
            <a:stretch>
              <a:fillRect l="0" t="0" r="0" b="0"/>
            </a:stretch>
          </a:blipFill>
        </p:spPr>
      </p:sp>
      <p:sp>
        <p:nvSpPr>
          <p:cNvPr name="TextBox 14" id="14"/>
          <p:cNvSpPr txBox="true"/>
          <p:nvPr/>
        </p:nvSpPr>
        <p:spPr>
          <a:xfrm rot="0">
            <a:off x="4354017" y="276122"/>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BINGOGAME</a:t>
            </a:r>
          </a:p>
        </p:txBody>
      </p:sp>
      <p:sp>
        <p:nvSpPr>
          <p:cNvPr name="TextBox 15" id="15"/>
          <p:cNvSpPr txBox="true"/>
          <p:nvPr/>
        </p:nvSpPr>
        <p:spPr>
          <a:xfrm rot="0">
            <a:off x="10417396" y="2579608"/>
            <a:ext cx="7870604" cy="15811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Đảm bảo mỗi ván chơi đều bắt đầu từ trạng thái sạch, không bị ảnh hưởng bởi ván trước.</a:t>
            </a:r>
          </a:p>
        </p:txBody>
      </p:sp>
      <p:sp>
        <p:nvSpPr>
          <p:cNvPr name="TextBox 16" id="16"/>
          <p:cNvSpPr txBox="true"/>
          <p:nvPr/>
        </p:nvSpPr>
        <p:spPr>
          <a:xfrm rot="0">
            <a:off x="177365" y="5935000"/>
            <a:ext cx="7177608" cy="21145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GameResult là một struct </a:t>
            </a:r>
            <a:r>
              <a:rPr lang="en-US" sz="3000">
                <a:solidFill>
                  <a:srgbClr val="182F5B"/>
                </a:solidFill>
                <a:latin typeface="Canva Sans"/>
                <a:ea typeface="Canva Sans"/>
                <a:cs typeface="Canva Sans"/>
                <a:sym typeface="Canva Sans"/>
              </a:rPr>
              <a:t>dùng để chứa mọi dữ liệu sau khi ván kết thúc (ai thắng, thắng kiểu gì, bốc bao nhiêu số).</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293177" y="8631344"/>
            <a:ext cx="3969884" cy="2785026"/>
          </a:xfrm>
          <a:custGeom>
            <a:avLst/>
            <a:gdLst/>
            <a:ahLst/>
            <a:cxnLst/>
            <a:rect r="r" b="b" t="t" l="l"/>
            <a:pathLst>
              <a:path h="2785026" w="3969884">
                <a:moveTo>
                  <a:pt x="0" y="0"/>
                </a:moveTo>
                <a:lnTo>
                  <a:pt x="3969884" y="0"/>
                </a:lnTo>
                <a:lnTo>
                  <a:pt x="3969884" y="2785027"/>
                </a:lnTo>
                <a:lnTo>
                  <a:pt x="0" y="27850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923884" y="2411402"/>
            <a:ext cx="13862340" cy="3778569"/>
          </a:xfrm>
          <a:custGeom>
            <a:avLst/>
            <a:gdLst/>
            <a:ahLst/>
            <a:cxnLst/>
            <a:rect r="r" b="b" t="t" l="l"/>
            <a:pathLst>
              <a:path h="3778569" w="13862340">
                <a:moveTo>
                  <a:pt x="0" y="0"/>
                </a:moveTo>
                <a:lnTo>
                  <a:pt x="13862339" y="0"/>
                </a:lnTo>
                <a:lnTo>
                  <a:pt x="13862339" y="3778569"/>
                </a:lnTo>
                <a:lnTo>
                  <a:pt x="0" y="3778569"/>
                </a:lnTo>
                <a:lnTo>
                  <a:pt x="0" y="0"/>
                </a:lnTo>
                <a:close/>
              </a:path>
            </a:pathLst>
          </a:custGeom>
          <a:blipFill>
            <a:blip r:embed="rId4"/>
            <a:stretch>
              <a:fillRect l="0" t="0" r="0" b="0"/>
            </a:stretch>
          </a:blipFill>
        </p:spPr>
      </p:sp>
      <p:sp>
        <p:nvSpPr>
          <p:cNvPr name="TextBox 13" id="13"/>
          <p:cNvSpPr txBox="true"/>
          <p:nvPr/>
        </p:nvSpPr>
        <p:spPr>
          <a:xfrm rot="0">
            <a:off x="4354017" y="276122"/>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BINGOGAME</a:t>
            </a:r>
          </a:p>
        </p:txBody>
      </p:sp>
      <p:sp>
        <p:nvSpPr>
          <p:cNvPr name="TextBox 14" id="14"/>
          <p:cNvSpPr txBox="true"/>
          <p:nvPr/>
        </p:nvSpPr>
        <p:spPr>
          <a:xfrm rot="0">
            <a:off x="2492553" y="6675746"/>
            <a:ext cx="13302893" cy="514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Vòng lặp sẽ</a:t>
            </a:r>
            <a:r>
              <a:rPr lang="en-US" sz="3000">
                <a:solidFill>
                  <a:srgbClr val="182F5B"/>
                </a:solidFill>
                <a:latin typeface="Canva Sans"/>
                <a:ea typeface="Canva Sans"/>
                <a:cs typeface="Canva Sans"/>
                <a:sym typeface="Canva Sans"/>
              </a:rPr>
              <a:t> chạy liên tục cho đến khi hết 99 số hoặc có người thắng.</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293177" y="8631344"/>
            <a:ext cx="3969884" cy="2785026"/>
          </a:xfrm>
          <a:custGeom>
            <a:avLst/>
            <a:gdLst/>
            <a:ahLst/>
            <a:cxnLst/>
            <a:rect r="r" b="b" t="t" l="l"/>
            <a:pathLst>
              <a:path h="2785026" w="3969884">
                <a:moveTo>
                  <a:pt x="0" y="0"/>
                </a:moveTo>
                <a:lnTo>
                  <a:pt x="3969884" y="0"/>
                </a:lnTo>
                <a:lnTo>
                  <a:pt x="3969884" y="2785027"/>
                </a:lnTo>
                <a:lnTo>
                  <a:pt x="0" y="27850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470579" y="2106794"/>
            <a:ext cx="13346843" cy="3936839"/>
          </a:xfrm>
          <a:custGeom>
            <a:avLst/>
            <a:gdLst/>
            <a:ahLst/>
            <a:cxnLst/>
            <a:rect r="r" b="b" t="t" l="l"/>
            <a:pathLst>
              <a:path h="3936839" w="13346843">
                <a:moveTo>
                  <a:pt x="0" y="0"/>
                </a:moveTo>
                <a:lnTo>
                  <a:pt x="13346842" y="0"/>
                </a:lnTo>
                <a:lnTo>
                  <a:pt x="13346842" y="3936839"/>
                </a:lnTo>
                <a:lnTo>
                  <a:pt x="0" y="3936839"/>
                </a:lnTo>
                <a:lnTo>
                  <a:pt x="0" y="0"/>
                </a:lnTo>
                <a:close/>
              </a:path>
            </a:pathLst>
          </a:custGeom>
          <a:blipFill>
            <a:blip r:embed="rId4"/>
            <a:stretch>
              <a:fillRect l="0" t="0" r="0" b="0"/>
            </a:stretch>
          </a:blipFill>
        </p:spPr>
      </p:sp>
      <p:sp>
        <p:nvSpPr>
          <p:cNvPr name="TextBox 13" id="13"/>
          <p:cNvSpPr txBox="true"/>
          <p:nvPr/>
        </p:nvSpPr>
        <p:spPr>
          <a:xfrm rot="0">
            <a:off x="4354017" y="276122"/>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BINGOGAME</a:t>
            </a:r>
          </a:p>
        </p:txBody>
      </p:sp>
      <p:sp>
        <p:nvSpPr>
          <p:cNvPr name="TextBox 14" id="14"/>
          <p:cNvSpPr txBox="true"/>
          <p:nvPr/>
        </p:nvSpPr>
        <p:spPr>
          <a:xfrm rot="0">
            <a:off x="631697" y="6396101"/>
            <a:ext cx="17024606" cy="1047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Với mỗi số bốc ra, hệ thống </a:t>
            </a:r>
            <a:r>
              <a:rPr lang="en-US" sz="3000">
                <a:solidFill>
                  <a:srgbClr val="182F5B"/>
                </a:solidFill>
                <a:latin typeface="Canva Sans"/>
                <a:ea typeface="Canva Sans"/>
                <a:cs typeface="Canva Sans"/>
                <a:sym typeface="Canva Sans"/>
              </a:rPr>
              <a:t>duyệt qua tất cả các phiếu đang chơi để đánh dấu. Nếu có một phiếu đạt điều kiện Bingo, quá trình bốc số dừng lại ngay lập tức.</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0" y="2152297"/>
            <a:ext cx="11301259" cy="3164353"/>
          </a:xfrm>
          <a:custGeom>
            <a:avLst/>
            <a:gdLst/>
            <a:ahLst/>
            <a:cxnLst/>
            <a:rect r="r" b="b" t="t" l="l"/>
            <a:pathLst>
              <a:path h="3164353" w="11301259">
                <a:moveTo>
                  <a:pt x="0" y="0"/>
                </a:moveTo>
                <a:lnTo>
                  <a:pt x="11301259" y="0"/>
                </a:lnTo>
                <a:lnTo>
                  <a:pt x="11301259" y="3164353"/>
                </a:lnTo>
                <a:lnTo>
                  <a:pt x="0" y="3164353"/>
                </a:lnTo>
                <a:lnTo>
                  <a:pt x="0" y="0"/>
                </a:lnTo>
                <a:close/>
              </a:path>
            </a:pathLst>
          </a:custGeom>
          <a:blipFill>
            <a:blip r:embed="rId4"/>
            <a:stretch>
              <a:fillRect l="0" t="0" r="0" b="0"/>
            </a:stretch>
          </a:blipFill>
        </p:spPr>
      </p:sp>
      <p:sp>
        <p:nvSpPr>
          <p:cNvPr name="Freeform 13" id="13"/>
          <p:cNvSpPr/>
          <p:nvPr/>
        </p:nvSpPr>
        <p:spPr>
          <a:xfrm flipH="false" flipV="false" rot="0">
            <a:off x="2699379" y="6526658"/>
            <a:ext cx="15184604" cy="2923036"/>
          </a:xfrm>
          <a:custGeom>
            <a:avLst/>
            <a:gdLst/>
            <a:ahLst/>
            <a:cxnLst/>
            <a:rect r="r" b="b" t="t" l="l"/>
            <a:pathLst>
              <a:path h="2923036" w="15184604">
                <a:moveTo>
                  <a:pt x="0" y="0"/>
                </a:moveTo>
                <a:lnTo>
                  <a:pt x="15184604" y="0"/>
                </a:lnTo>
                <a:lnTo>
                  <a:pt x="15184604" y="2923036"/>
                </a:lnTo>
                <a:lnTo>
                  <a:pt x="0" y="2923036"/>
                </a:lnTo>
                <a:lnTo>
                  <a:pt x="0" y="0"/>
                </a:lnTo>
                <a:close/>
              </a:path>
            </a:pathLst>
          </a:custGeom>
          <a:blipFill>
            <a:blip r:embed="rId5"/>
            <a:stretch>
              <a:fillRect l="0" t="0" r="0" b="0"/>
            </a:stretch>
          </a:blipFill>
        </p:spPr>
      </p:sp>
      <p:sp>
        <p:nvSpPr>
          <p:cNvPr name="TextBox 14" id="14"/>
          <p:cNvSpPr txBox="true"/>
          <p:nvPr/>
        </p:nvSpPr>
        <p:spPr>
          <a:xfrm rot="0">
            <a:off x="4354017" y="276122"/>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BINGOGAME</a:t>
            </a:r>
          </a:p>
        </p:txBody>
      </p:sp>
      <p:sp>
        <p:nvSpPr>
          <p:cNvPr name="TextBox 15" id="15"/>
          <p:cNvSpPr txBox="true"/>
          <p:nvPr/>
        </p:nvSpPr>
        <p:spPr>
          <a:xfrm rot="0">
            <a:off x="11484354" y="2345485"/>
            <a:ext cx="6803646" cy="21145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Việc này giúp chúng ta biết được số nào nằm trên đường thắng để tính toán chỉ số BCR và vẽ Heatmap.</a:t>
            </a:r>
          </a:p>
        </p:txBody>
      </p:sp>
      <p:sp>
        <p:nvSpPr>
          <p:cNvPr name="TextBox 16" id="16"/>
          <p:cNvSpPr txBox="true"/>
          <p:nvPr/>
        </p:nvSpPr>
        <p:spPr>
          <a:xfrm rot="0">
            <a:off x="311005" y="5725373"/>
            <a:ext cx="17976995" cy="1047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Đoạn</a:t>
            </a:r>
            <a:r>
              <a:rPr lang="en-US" sz="3000">
                <a:solidFill>
                  <a:srgbClr val="182F5B"/>
                </a:solidFill>
                <a:latin typeface="Canva Sans"/>
                <a:ea typeface="Canva Sans"/>
                <a:cs typeface="Canva Sans"/>
                <a:sym typeface="Canva Sans"/>
              </a:rPr>
              <a:t> này kiểm tra xem 5 ô thắng có cùng nằm trên một hàng hay không để đặt tên cho kiểu thắng.</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981026" y="3247880"/>
            <a:ext cx="6278274" cy="2511310"/>
            <a:chOff x="0" y="0"/>
            <a:chExt cx="6350000" cy="2540000"/>
          </a:xfrm>
        </p:grpSpPr>
        <p:sp>
          <p:nvSpPr>
            <p:cNvPr name="Freeform 17" id="17"/>
            <p:cNvSpPr/>
            <p:nvPr/>
          </p:nvSpPr>
          <p:spPr>
            <a:xfrm flipH="false" flipV="false" rot="0">
              <a:off x="0" y="0"/>
              <a:ext cx="6350000" cy="2540000"/>
            </a:xfrm>
            <a:custGeom>
              <a:avLst/>
              <a:gdLst/>
              <a:ahLst/>
              <a:cxnLst/>
              <a:rect r="r" b="b" t="t" l="l"/>
              <a:pathLst>
                <a:path h="2540000" w="6350000">
                  <a:moveTo>
                    <a:pt x="0" y="2159000"/>
                  </a:moveTo>
                  <a:lnTo>
                    <a:pt x="0" y="381000"/>
                  </a:lnTo>
                  <a:cubicBezTo>
                    <a:pt x="0" y="170180"/>
                    <a:pt x="170180" y="0"/>
                    <a:pt x="381000" y="0"/>
                  </a:cubicBezTo>
                  <a:lnTo>
                    <a:pt x="5969000" y="0"/>
                  </a:lnTo>
                  <a:cubicBezTo>
                    <a:pt x="6179820" y="0"/>
                    <a:pt x="6350000" y="170180"/>
                    <a:pt x="6350000" y="381000"/>
                  </a:cubicBezTo>
                  <a:lnTo>
                    <a:pt x="6350000" y="2159000"/>
                  </a:lnTo>
                  <a:cubicBezTo>
                    <a:pt x="6350000" y="2369820"/>
                    <a:pt x="6179820" y="2540000"/>
                    <a:pt x="5969000" y="2540000"/>
                  </a:cubicBezTo>
                  <a:lnTo>
                    <a:pt x="381000" y="2540000"/>
                  </a:lnTo>
                  <a:cubicBezTo>
                    <a:pt x="170180" y="2540000"/>
                    <a:pt x="0" y="2369820"/>
                    <a:pt x="0" y="2159000"/>
                  </a:cubicBezTo>
                  <a:close/>
                </a:path>
              </a:pathLst>
            </a:custGeom>
            <a:blipFill>
              <a:blip r:embed="rId4"/>
              <a:stretch>
                <a:fillRect l="0" t="0" r="0" b="-7347"/>
              </a:stretch>
            </a:blipFill>
          </p:spPr>
        </p:sp>
      </p:grpSp>
      <p:sp>
        <p:nvSpPr>
          <p:cNvPr name="Freeform 18" id="18"/>
          <p:cNvSpPr/>
          <p:nvPr/>
        </p:nvSpPr>
        <p:spPr>
          <a:xfrm flipH="false" flipV="false" rot="0">
            <a:off x="1205207" y="5903610"/>
            <a:ext cx="11020516" cy="3025240"/>
          </a:xfrm>
          <a:custGeom>
            <a:avLst/>
            <a:gdLst/>
            <a:ahLst/>
            <a:cxnLst/>
            <a:rect r="r" b="b" t="t" l="l"/>
            <a:pathLst>
              <a:path h="3025240" w="11020516">
                <a:moveTo>
                  <a:pt x="0" y="0"/>
                </a:moveTo>
                <a:lnTo>
                  <a:pt x="11020516" y="0"/>
                </a:lnTo>
                <a:lnTo>
                  <a:pt x="11020516" y="3025240"/>
                </a:lnTo>
                <a:lnTo>
                  <a:pt x="0" y="3025240"/>
                </a:lnTo>
                <a:lnTo>
                  <a:pt x="0" y="0"/>
                </a:lnTo>
                <a:close/>
              </a:path>
            </a:pathLst>
          </a:custGeom>
          <a:blipFill>
            <a:blip r:embed="rId5"/>
            <a:stretch>
              <a:fillRect l="0" t="0" r="0" b="0"/>
            </a:stretch>
          </a:blipFill>
        </p:spPr>
      </p:sp>
      <p:sp>
        <p:nvSpPr>
          <p:cNvPr name="TextBox 19" id="19"/>
          <p:cNvSpPr txBox="true"/>
          <p:nvPr/>
        </p:nvSpPr>
        <p:spPr>
          <a:xfrm rot="0">
            <a:off x="4540196" y="847725"/>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NUMBERBAG</a:t>
            </a:r>
          </a:p>
        </p:txBody>
      </p:sp>
      <p:sp>
        <p:nvSpPr>
          <p:cNvPr name="TextBox 20" id="20"/>
          <p:cNvSpPr txBox="true"/>
          <p:nvPr/>
        </p:nvSpPr>
        <p:spPr>
          <a:xfrm rot="0">
            <a:off x="691765" y="3417685"/>
            <a:ext cx="9307290" cy="21145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vector&lt;int&gt; so: Một mảng động chứa 99 số nguyên. Đây là cái "túi" chứa các con số.</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int n: Biến chỉ số (index). Nó cho biết chúng ta đã bốc đến quả cầu thứ mấy trong túi.</a:t>
            </a:r>
          </a:p>
        </p:txBody>
      </p:sp>
      <p:sp>
        <p:nvSpPr>
          <p:cNvPr name="TextBox 21" id="21"/>
          <p:cNvSpPr txBox="true"/>
          <p:nvPr/>
        </p:nvSpPr>
        <p:spPr>
          <a:xfrm rot="0">
            <a:off x="12612297" y="6840194"/>
            <a:ext cx="5675703" cy="514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Thực hiện các chức năng</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36935" y="3969992"/>
            <a:ext cx="10542837" cy="2014208"/>
          </a:xfrm>
          <a:custGeom>
            <a:avLst/>
            <a:gdLst/>
            <a:ahLst/>
            <a:cxnLst/>
            <a:rect r="r" b="b" t="t" l="l"/>
            <a:pathLst>
              <a:path h="2014208" w="10542837">
                <a:moveTo>
                  <a:pt x="0" y="0"/>
                </a:moveTo>
                <a:lnTo>
                  <a:pt x="10542837" y="0"/>
                </a:lnTo>
                <a:lnTo>
                  <a:pt x="10542837" y="2014208"/>
                </a:lnTo>
                <a:lnTo>
                  <a:pt x="0" y="2014208"/>
                </a:lnTo>
                <a:lnTo>
                  <a:pt x="0" y="0"/>
                </a:lnTo>
                <a:close/>
              </a:path>
            </a:pathLst>
          </a:custGeom>
          <a:blipFill>
            <a:blip r:embed="rId4"/>
            <a:stretch>
              <a:fillRect l="0" t="0" r="0" b="0"/>
            </a:stretch>
          </a:blipFill>
        </p:spPr>
      </p:sp>
      <p:sp>
        <p:nvSpPr>
          <p:cNvPr name="Freeform 17" id="17"/>
          <p:cNvSpPr/>
          <p:nvPr/>
        </p:nvSpPr>
        <p:spPr>
          <a:xfrm flipH="false" flipV="false" rot="0">
            <a:off x="9144000" y="7187962"/>
            <a:ext cx="6686757" cy="2462009"/>
          </a:xfrm>
          <a:custGeom>
            <a:avLst/>
            <a:gdLst/>
            <a:ahLst/>
            <a:cxnLst/>
            <a:rect r="r" b="b" t="t" l="l"/>
            <a:pathLst>
              <a:path h="2462009" w="6686757">
                <a:moveTo>
                  <a:pt x="0" y="0"/>
                </a:moveTo>
                <a:lnTo>
                  <a:pt x="6686757" y="0"/>
                </a:lnTo>
                <a:lnTo>
                  <a:pt x="6686757" y="2462009"/>
                </a:lnTo>
                <a:lnTo>
                  <a:pt x="0" y="2462009"/>
                </a:lnTo>
                <a:lnTo>
                  <a:pt x="0" y="0"/>
                </a:lnTo>
                <a:close/>
              </a:path>
            </a:pathLst>
          </a:custGeom>
          <a:blipFill>
            <a:blip r:embed="rId5"/>
            <a:stretch>
              <a:fillRect l="0" t="0" r="0" b="0"/>
            </a:stretch>
          </a:blipFill>
        </p:spPr>
      </p:sp>
      <p:sp>
        <p:nvSpPr>
          <p:cNvPr name="TextBox 18" id="18"/>
          <p:cNvSpPr txBox="true"/>
          <p:nvPr/>
        </p:nvSpPr>
        <p:spPr>
          <a:xfrm rot="0">
            <a:off x="4354017" y="847725"/>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NUMBERBAG</a:t>
            </a:r>
          </a:p>
        </p:txBody>
      </p:sp>
      <p:sp>
        <p:nvSpPr>
          <p:cNvPr name="TextBox 19" id="19"/>
          <p:cNvSpPr txBox="true"/>
          <p:nvPr/>
        </p:nvSpPr>
        <p:spPr>
          <a:xfrm rot="0">
            <a:off x="10650572" y="3331971"/>
            <a:ext cx="7637428" cy="3714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n(0): Bắt đầu ván chơi, chưa có số nào được bốc nên chỉ số bằng 0.</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Vòng lặp for: Nạp các số từ 1 đến 99 vào túi theo thứ tự tăng dần.</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xao(): Ngay sau khi nạp xong, ta gọi hàm xáo để các con số trộn lẫn vào nhau.</a:t>
            </a:r>
          </a:p>
        </p:txBody>
      </p:sp>
      <p:sp>
        <p:nvSpPr>
          <p:cNvPr name="TextBox 20" id="20"/>
          <p:cNvSpPr txBox="true"/>
          <p:nvPr/>
        </p:nvSpPr>
        <p:spPr>
          <a:xfrm rot="0">
            <a:off x="691765" y="7286583"/>
            <a:ext cx="7804892" cy="2647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random_device và mt19937: Đây là bộ sinh số ngẫu nhiên của C++.</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huffle(...): Hàm này xáo trộn toàn bộ các phần tử trong vector so.</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n = 0: đặt lại con trỏ bốc số về ban đầu</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659514" y="2984722"/>
            <a:ext cx="10968971" cy="4042269"/>
          </a:xfrm>
          <a:custGeom>
            <a:avLst/>
            <a:gdLst/>
            <a:ahLst/>
            <a:cxnLst/>
            <a:rect r="r" b="b" t="t" l="l"/>
            <a:pathLst>
              <a:path h="4042269" w="10968971">
                <a:moveTo>
                  <a:pt x="0" y="0"/>
                </a:moveTo>
                <a:lnTo>
                  <a:pt x="10968972" y="0"/>
                </a:lnTo>
                <a:lnTo>
                  <a:pt x="10968972" y="4042269"/>
                </a:lnTo>
                <a:lnTo>
                  <a:pt x="0" y="4042269"/>
                </a:lnTo>
                <a:lnTo>
                  <a:pt x="0" y="0"/>
                </a:lnTo>
                <a:close/>
              </a:path>
            </a:pathLst>
          </a:custGeom>
          <a:blipFill>
            <a:blip r:embed="rId4"/>
            <a:stretch>
              <a:fillRect l="0" t="0" r="0" b="0"/>
            </a:stretch>
          </a:blipFill>
        </p:spPr>
      </p:sp>
      <p:sp>
        <p:nvSpPr>
          <p:cNvPr name="TextBox 17" id="17"/>
          <p:cNvSpPr txBox="true"/>
          <p:nvPr/>
        </p:nvSpPr>
        <p:spPr>
          <a:xfrm rot="0">
            <a:off x="4354017" y="1365404"/>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NUMBERBAG</a:t>
            </a:r>
          </a:p>
        </p:txBody>
      </p:sp>
      <p:sp>
        <p:nvSpPr>
          <p:cNvPr name="TextBox 18" id="18"/>
          <p:cNvSpPr txBox="true"/>
          <p:nvPr/>
        </p:nvSpPr>
        <p:spPr>
          <a:xfrm rot="0">
            <a:off x="4567923" y="7387898"/>
            <a:ext cx="9152153" cy="1253740"/>
          </a:xfrm>
          <a:prstGeom prst="rect">
            <a:avLst/>
          </a:prstGeom>
        </p:spPr>
        <p:txBody>
          <a:bodyPr anchor="t" rtlCol="false" tIns="0" lIns="0" bIns="0" rIns="0">
            <a:spAutoFit/>
          </a:bodyPr>
          <a:lstStyle/>
          <a:p>
            <a:pPr algn="l" marL="776158" indent="-388079" lvl="1">
              <a:lnSpc>
                <a:spcPts val="5032"/>
              </a:lnSpc>
              <a:buFont typeface="Arial"/>
              <a:buChar char="•"/>
            </a:pPr>
            <a:r>
              <a:rPr lang="en-US" sz="3594">
                <a:solidFill>
                  <a:srgbClr val="182F5B"/>
                </a:solidFill>
                <a:latin typeface="Canva Sans"/>
                <a:ea typeface="Canva Sans"/>
                <a:cs typeface="Canva Sans"/>
                <a:sym typeface="Canva Sans"/>
              </a:rPr>
              <a:t>Kiểm tra xem đã bốc hết số chưa (1-99) nếu đã bốc hết thì trả về -1</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179223" y="3668162"/>
            <a:ext cx="10042102" cy="1619289"/>
          </a:xfrm>
          <a:custGeom>
            <a:avLst/>
            <a:gdLst/>
            <a:ahLst/>
            <a:cxnLst/>
            <a:rect r="r" b="b" t="t" l="l"/>
            <a:pathLst>
              <a:path h="1619289" w="10042102">
                <a:moveTo>
                  <a:pt x="0" y="0"/>
                </a:moveTo>
                <a:lnTo>
                  <a:pt x="10042102" y="0"/>
                </a:lnTo>
                <a:lnTo>
                  <a:pt x="10042102" y="1619289"/>
                </a:lnTo>
                <a:lnTo>
                  <a:pt x="0" y="1619289"/>
                </a:lnTo>
                <a:lnTo>
                  <a:pt x="0" y="0"/>
                </a:lnTo>
                <a:close/>
              </a:path>
            </a:pathLst>
          </a:custGeom>
          <a:blipFill>
            <a:blip r:embed="rId4"/>
            <a:stretch>
              <a:fillRect l="0" t="0" r="0" b="0"/>
            </a:stretch>
          </a:blipFill>
        </p:spPr>
      </p:sp>
      <p:sp>
        <p:nvSpPr>
          <p:cNvPr name="Freeform 13" id="13"/>
          <p:cNvSpPr/>
          <p:nvPr/>
        </p:nvSpPr>
        <p:spPr>
          <a:xfrm flipH="false" flipV="false" rot="0">
            <a:off x="3861542" y="6117216"/>
            <a:ext cx="10564917" cy="1172272"/>
          </a:xfrm>
          <a:custGeom>
            <a:avLst/>
            <a:gdLst/>
            <a:ahLst/>
            <a:cxnLst/>
            <a:rect r="r" b="b" t="t" l="l"/>
            <a:pathLst>
              <a:path h="1172272" w="10564917">
                <a:moveTo>
                  <a:pt x="0" y="0"/>
                </a:moveTo>
                <a:lnTo>
                  <a:pt x="10564916" y="0"/>
                </a:lnTo>
                <a:lnTo>
                  <a:pt x="10564916" y="1172272"/>
                </a:lnTo>
                <a:lnTo>
                  <a:pt x="0" y="1172272"/>
                </a:lnTo>
                <a:lnTo>
                  <a:pt x="0" y="0"/>
                </a:lnTo>
                <a:close/>
              </a:path>
            </a:pathLst>
          </a:custGeom>
          <a:blipFill>
            <a:blip r:embed="rId5"/>
            <a:stretch>
              <a:fillRect l="0" t="0" r="0" b="0"/>
            </a:stretch>
          </a:blipFill>
        </p:spPr>
      </p:sp>
      <p:sp>
        <p:nvSpPr>
          <p:cNvPr name="TextBox 14" id="14"/>
          <p:cNvSpPr txBox="true"/>
          <p:nvPr/>
        </p:nvSpPr>
        <p:spPr>
          <a:xfrm rot="0">
            <a:off x="2529526" y="847725"/>
            <a:ext cx="13228947"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PRIZECALCULATOR</a:t>
            </a:r>
          </a:p>
        </p:txBody>
      </p:sp>
      <p:sp>
        <p:nvSpPr>
          <p:cNvPr name="TextBox 15" id="15"/>
          <p:cNvSpPr txBox="true"/>
          <p:nvPr/>
        </p:nvSpPr>
        <p:spPr>
          <a:xfrm rot="0">
            <a:off x="1381573" y="3705410"/>
            <a:ext cx="6386086" cy="2647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Gán</a:t>
            </a:r>
            <a:r>
              <a:rPr lang="en-US" sz="3000">
                <a:solidFill>
                  <a:srgbClr val="182F5B"/>
                </a:solidFill>
                <a:latin typeface="Canva Sans"/>
                <a:ea typeface="Canva Sans"/>
                <a:cs typeface="Canva Sans"/>
                <a:sym typeface="Canva Sans"/>
              </a:rPr>
              <a:t> các thông số đầu vào (từ người dùng nhập ở main) vào các biến thành viên của lớp để sử dụng cho các tính toán sau này.</a:t>
            </a:r>
          </a:p>
        </p:txBody>
      </p:sp>
      <p:sp>
        <p:nvSpPr>
          <p:cNvPr name="TextBox 16" id="16"/>
          <p:cNvSpPr txBox="true"/>
          <p:nvPr/>
        </p:nvSpPr>
        <p:spPr>
          <a:xfrm rot="0">
            <a:off x="4940644" y="7860988"/>
            <a:ext cx="8406713" cy="21145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Hàm</a:t>
            </a:r>
            <a:r>
              <a:rPr lang="en-US" sz="3000">
                <a:solidFill>
                  <a:srgbClr val="182F5B"/>
                </a:solidFill>
                <a:latin typeface="Canva Sans"/>
                <a:ea typeface="Canva Sans"/>
                <a:cs typeface="Canva Sans"/>
                <a:sym typeface="Canva Sans"/>
              </a:rPr>
              <a:t> này dùng để tính tổng số tiền nhà cái thu được bằng cách lấy số lượng phiếu bán ra nhân với giá mỗi vé. Đây là doanh thu (Revenue).</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404234" y="3160729"/>
            <a:ext cx="11301259" cy="2217872"/>
          </a:xfrm>
          <a:custGeom>
            <a:avLst/>
            <a:gdLst/>
            <a:ahLst/>
            <a:cxnLst/>
            <a:rect r="r" b="b" t="t" l="l"/>
            <a:pathLst>
              <a:path h="2217872" w="11301259">
                <a:moveTo>
                  <a:pt x="0" y="0"/>
                </a:moveTo>
                <a:lnTo>
                  <a:pt x="11301259" y="0"/>
                </a:lnTo>
                <a:lnTo>
                  <a:pt x="11301259" y="2217872"/>
                </a:lnTo>
                <a:lnTo>
                  <a:pt x="0" y="2217872"/>
                </a:lnTo>
                <a:lnTo>
                  <a:pt x="0" y="0"/>
                </a:lnTo>
                <a:close/>
              </a:path>
            </a:pathLst>
          </a:custGeom>
          <a:blipFill>
            <a:blip r:embed="rId4"/>
            <a:stretch>
              <a:fillRect l="0" t="0" r="0" b="0"/>
            </a:stretch>
          </a:blipFill>
        </p:spPr>
      </p:sp>
      <p:sp>
        <p:nvSpPr>
          <p:cNvPr name="TextBox 13" id="13"/>
          <p:cNvSpPr txBox="true"/>
          <p:nvPr/>
        </p:nvSpPr>
        <p:spPr>
          <a:xfrm rot="0">
            <a:off x="2529526" y="1329672"/>
            <a:ext cx="13228947"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PRIZECALCULATOR</a:t>
            </a:r>
          </a:p>
        </p:txBody>
      </p:sp>
      <p:sp>
        <p:nvSpPr>
          <p:cNvPr name="TextBox 14" id="14"/>
          <p:cNvSpPr txBox="true"/>
          <p:nvPr/>
        </p:nvSpPr>
        <p:spPr>
          <a:xfrm rot="0">
            <a:off x="1806669" y="5574552"/>
            <a:ext cx="14496389" cy="42481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Hàm</a:t>
            </a:r>
            <a:r>
              <a:rPr lang="en-US" sz="3000">
                <a:solidFill>
                  <a:srgbClr val="182F5B"/>
                </a:solidFill>
                <a:latin typeface="Canva Sans"/>
                <a:ea typeface="Canva Sans"/>
                <a:cs typeface="Canva Sans"/>
                <a:sym typeface="Canva Sans"/>
              </a:rPr>
              <a:t> tính tiền thưởng thực tế (công thức tính tiền thưởng):</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base: Tiền thưởng gốc khi bắt đầu ván chơi.</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periods: Tính xem đã trải qua bao nhiêu chu kỳ k. Ví dụ: nếu k=10 và đã bốc 25 lần, thì periods = 25 / 10 = 2 chu kỳ.</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decayRate: Tỷ lệ còn lại sau khi giảm. Nếu giảm 5% (x=5), thì tỷ lệ còn lại là 0.95.</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std::pow: Đây là công thức lãi kép ngược (exponential decay). Tiền thưởng sẽ giảm dần theo lũy thừa của số chu kỳ.</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028700" y="3444643"/>
            <a:ext cx="16374521" cy="1698857"/>
          </a:xfrm>
          <a:custGeom>
            <a:avLst/>
            <a:gdLst/>
            <a:ahLst/>
            <a:cxnLst/>
            <a:rect r="r" b="b" t="t" l="l"/>
            <a:pathLst>
              <a:path h="1698857" w="16374521">
                <a:moveTo>
                  <a:pt x="0" y="0"/>
                </a:moveTo>
                <a:lnTo>
                  <a:pt x="16374521" y="0"/>
                </a:lnTo>
                <a:lnTo>
                  <a:pt x="16374521" y="1698857"/>
                </a:lnTo>
                <a:lnTo>
                  <a:pt x="0" y="1698857"/>
                </a:lnTo>
                <a:lnTo>
                  <a:pt x="0" y="0"/>
                </a:lnTo>
                <a:close/>
              </a:path>
            </a:pathLst>
          </a:custGeom>
          <a:blipFill>
            <a:blip r:embed="rId4"/>
            <a:stretch>
              <a:fillRect l="0" t="0" r="0" b="0"/>
            </a:stretch>
          </a:blipFill>
        </p:spPr>
      </p:sp>
      <p:sp>
        <p:nvSpPr>
          <p:cNvPr name="TextBox 13" id="13"/>
          <p:cNvSpPr txBox="true"/>
          <p:nvPr/>
        </p:nvSpPr>
        <p:spPr>
          <a:xfrm rot="0">
            <a:off x="2529526" y="1329672"/>
            <a:ext cx="13228947"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PRIZECALCULATOR</a:t>
            </a:r>
          </a:p>
        </p:txBody>
      </p:sp>
      <p:sp>
        <p:nvSpPr>
          <p:cNvPr name="TextBox 14" id="14"/>
          <p:cNvSpPr txBox="true"/>
          <p:nvPr/>
        </p:nvSpPr>
        <p:spPr>
          <a:xfrm rot="0">
            <a:off x="1687320" y="5655581"/>
            <a:ext cx="15057281" cy="2194154"/>
          </a:xfrm>
          <a:prstGeom prst="rect">
            <a:avLst/>
          </a:prstGeom>
        </p:spPr>
        <p:txBody>
          <a:bodyPr anchor="t" rtlCol="false" tIns="0" lIns="0" bIns="0" rIns="0">
            <a:spAutoFit/>
          </a:bodyPr>
          <a:lstStyle/>
          <a:p>
            <a:pPr algn="l" marL="672761" indent="-336380" lvl="1">
              <a:lnSpc>
                <a:spcPts val="4362"/>
              </a:lnSpc>
              <a:buFont typeface="Arial"/>
              <a:buChar char="•"/>
            </a:pPr>
            <a:r>
              <a:rPr lang="en-US" sz="3116">
                <a:solidFill>
                  <a:srgbClr val="182F5B"/>
                </a:solidFill>
                <a:latin typeface="Canva Sans"/>
                <a:ea typeface="Canva Sans"/>
                <a:cs typeface="Canva Sans"/>
                <a:sym typeface="Canva Sans"/>
              </a:rPr>
              <a:t>Ý</a:t>
            </a:r>
            <a:r>
              <a:rPr lang="en-US" sz="3116">
                <a:solidFill>
                  <a:srgbClr val="182F5B"/>
                </a:solidFill>
                <a:latin typeface="Canva Sans"/>
                <a:ea typeface="Canva Sans"/>
                <a:cs typeface="Canva Sans"/>
                <a:sym typeface="Canva Sans"/>
              </a:rPr>
              <a:t> nghĩa: Lấy tổng thu trừ đi tiền thưởng thự</a:t>
            </a:r>
            <a:r>
              <a:rPr lang="en-US" sz="3116">
                <a:solidFill>
                  <a:srgbClr val="182F5B"/>
                </a:solidFill>
                <a:latin typeface="Canva Sans"/>
                <a:ea typeface="Canva Sans"/>
                <a:cs typeface="Canva Sans"/>
                <a:sym typeface="Canva Sans"/>
              </a:rPr>
              <a:t>c tế đã chi trả.</a:t>
            </a:r>
          </a:p>
          <a:p>
            <a:pPr algn="l" marL="1345521" indent="-448507" lvl="2">
              <a:lnSpc>
                <a:spcPts val="4362"/>
              </a:lnSpc>
              <a:buFont typeface="Arial"/>
              <a:buChar char="⚬"/>
            </a:pPr>
            <a:r>
              <a:rPr lang="en-US" sz="3116">
                <a:solidFill>
                  <a:srgbClr val="182F5B"/>
                </a:solidFill>
                <a:latin typeface="Canva Sans"/>
                <a:ea typeface="Canva Sans"/>
                <a:cs typeface="Canva Sans"/>
                <a:sym typeface="Canva Sans"/>
              </a:rPr>
              <a:t>Nếu kết quả Dương: Nhà cái có lãi.</a:t>
            </a:r>
          </a:p>
          <a:p>
            <a:pPr algn="l" marL="1345521" indent="-448507" lvl="2">
              <a:lnSpc>
                <a:spcPts val="4362"/>
              </a:lnSpc>
              <a:buFont typeface="Arial"/>
              <a:buChar char="⚬"/>
            </a:pPr>
            <a:r>
              <a:rPr lang="en-US" sz="3116">
                <a:solidFill>
                  <a:srgbClr val="182F5B"/>
                </a:solidFill>
                <a:latin typeface="Canva Sans"/>
                <a:ea typeface="Canva Sans"/>
                <a:cs typeface="Canva Sans"/>
                <a:sym typeface="Canva Sans"/>
              </a:rPr>
              <a:t>Nếu kết quả Âm: Nhà cái bị lỗ (thường xảy ra khi người chơi thắng quá sớm, trước khi tiền thưởng kịp giảm).</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274358" y="8557552"/>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4204209" y="4117999"/>
            <a:ext cx="9879582" cy="2829475"/>
          </a:xfrm>
          <a:custGeom>
            <a:avLst/>
            <a:gdLst/>
            <a:ahLst/>
            <a:cxnLst/>
            <a:rect r="r" b="b" t="t" l="l"/>
            <a:pathLst>
              <a:path h="2829475" w="9879582">
                <a:moveTo>
                  <a:pt x="0" y="0"/>
                </a:moveTo>
                <a:lnTo>
                  <a:pt x="9879582" y="0"/>
                </a:lnTo>
                <a:lnTo>
                  <a:pt x="9879582" y="2829475"/>
                </a:lnTo>
                <a:lnTo>
                  <a:pt x="0" y="2829475"/>
                </a:lnTo>
                <a:lnTo>
                  <a:pt x="0" y="0"/>
                </a:lnTo>
                <a:close/>
              </a:path>
            </a:pathLst>
          </a:custGeom>
          <a:blipFill>
            <a:blip r:embed="rId4"/>
            <a:stretch>
              <a:fillRect l="0" t="0" r="0" b="0"/>
            </a:stretch>
          </a:blipFill>
        </p:spPr>
      </p:sp>
      <p:sp>
        <p:nvSpPr>
          <p:cNvPr name="Freeform 17" id="17"/>
          <p:cNvSpPr/>
          <p:nvPr/>
        </p:nvSpPr>
        <p:spPr>
          <a:xfrm flipH="false" flipV="false" rot="0">
            <a:off x="2249350" y="1868033"/>
            <a:ext cx="14631508" cy="1243678"/>
          </a:xfrm>
          <a:custGeom>
            <a:avLst/>
            <a:gdLst/>
            <a:ahLst/>
            <a:cxnLst/>
            <a:rect r="r" b="b" t="t" l="l"/>
            <a:pathLst>
              <a:path h="1243678" w="14631508">
                <a:moveTo>
                  <a:pt x="0" y="0"/>
                </a:moveTo>
                <a:lnTo>
                  <a:pt x="14631508" y="0"/>
                </a:lnTo>
                <a:lnTo>
                  <a:pt x="14631508" y="1243678"/>
                </a:lnTo>
                <a:lnTo>
                  <a:pt x="0" y="1243678"/>
                </a:lnTo>
                <a:lnTo>
                  <a:pt x="0" y="0"/>
                </a:lnTo>
                <a:close/>
              </a:path>
            </a:pathLst>
          </a:custGeom>
          <a:blipFill>
            <a:blip r:embed="rId5"/>
            <a:stretch>
              <a:fillRect l="0" t="0" r="0" b="0"/>
            </a:stretch>
          </a:blipFill>
        </p:spPr>
      </p:sp>
      <p:sp>
        <p:nvSpPr>
          <p:cNvPr name="TextBox 18" id="18"/>
          <p:cNvSpPr txBox="true"/>
          <p:nvPr/>
        </p:nvSpPr>
        <p:spPr>
          <a:xfrm rot="0">
            <a:off x="4354017" y="248715"/>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SIMULATOR</a:t>
            </a:r>
          </a:p>
        </p:txBody>
      </p:sp>
      <p:sp>
        <p:nvSpPr>
          <p:cNvPr name="TextBox 19" id="19"/>
          <p:cNvSpPr txBox="true"/>
          <p:nvPr/>
        </p:nvSpPr>
        <p:spPr>
          <a:xfrm rot="0">
            <a:off x="1429653" y="3309507"/>
            <a:ext cx="17638082" cy="514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Khởi tạo số</a:t>
            </a:r>
            <a:r>
              <a:rPr lang="en-US" sz="3000">
                <a:solidFill>
                  <a:srgbClr val="182F5B"/>
                </a:solidFill>
                <a:latin typeface="Canva Sans"/>
                <a:ea typeface="Canva Sans"/>
                <a:cs typeface="Canva Sans"/>
                <a:sym typeface="Canva Sans"/>
              </a:rPr>
              <a:t> ván, số phiếu và truyền các tham số tài chính vào bộ thống kê stats.</a:t>
            </a:r>
          </a:p>
        </p:txBody>
      </p:sp>
      <p:sp>
        <p:nvSpPr>
          <p:cNvPr name="TextBox 20" id="20"/>
          <p:cNvSpPr txBox="true"/>
          <p:nvPr/>
        </p:nvSpPr>
        <p:spPr>
          <a:xfrm rot="0">
            <a:off x="1429653" y="7339717"/>
            <a:ext cx="16673848" cy="1047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game.play(false): Gọi logic chơi game. Tham số false có nghĩa là không in chi tiết từng lượt bốc số ra màn hình mục đích để tăng tốc độ khi phải chạy nhiều ván.</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123127" y="2083345"/>
            <a:ext cx="16041746" cy="2466418"/>
          </a:xfrm>
          <a:custGeom>
            <a:avLst/>
            <a:gdLst/>
            <a:ahLst/>
            <a:cxnLst/>
            <a:rect r="r" b="b" t="t" l="l"/>
            <a:pathLst>
              <a:path h="2466418" w="16041746">
                <a:moveTo>
                  <a:pt x="0" y="0"/>
                </a:moveTo>
                <a:lnTo>
                  <a:pt x="16041746" y="0"/>
                </a:lnTo>
                <a:lnTo>
                  <a:pt x="16041746" y="2466418"/>
                </a:lnTo>
                <a:lnTo>
                  <a:pt x="0" y="2466418"/>
                </a:lnTo>
                <a:lnTo>
                  <a:pt x="0" y="0"/>
                </a:lnTo>
                <a:close/>
              </a:path>
            </a:pathLst>
          </a:custGeom>
          <a:blipFill>
            <a:blip r:embed="rId4"/>
            <a:stretch>
              <a:fillRect l="0" t="0" r="0" b="0"/>
            </a:stretch>
          </a:blipFill>
        </p:spPr>
      </p:sp>
      <p:sp>
        <p:nvSpPr>
          <p:cNvPr name="TextBox 17" id="17"/>
          <p:cNvSpPr txBox="true"/>
          <p:nvPr/>
        </p:nvSpPr>
        <p:spPr>
          <a:xfrm rot="0">
            <a:off x="4354017" y="248715"/>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SIMULATOR</a:t>
            </a:r>
          </a:p>
        </p:txBody>
      </p:sp>
      <p:sp>
        <p:nvSpPr>
          <p:cNvPr name="TextBox 18" id="18"/>
          <p:cNvSpPr txBox="true"/>
          <p:nvPr/>
        </p:nvSpPr>
        <p:spPr>
          <a:xfrm rot="0">
            <a:off x="253203" y="4886143"/>
            <a:ext cx="17781594" cy="3181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totalCollected: Tổng tiền thu từ việc bán vé.</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actualPrize: Tiền thưởng thực tế trả cho người thắng (đã áp dụng công thức giảm thưởng theo số lượt bốc drawCount).</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houseProfit: Lợi nhuận nhà cái (Thu - Chi).</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stats.record(result): Đẩy toàn bộ kết quả của ván vừa rồi vào bộ nhớ của lớp Statistics để tính toán Heatmap, BCR và tổng lợi nhuận.</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291316" y="2279302"/>
            <a:ext cx="11705368" cy="4541331"/>
          </a:xfrm>
          <a:custGeom>
            <a:avLst/>
            <a:gdLst/>
            <a:ahLst/>
            <a:cxnLst/>
            <a:rect r="r" b="b" t="t" l="l"/>
            <a:pathLst>
              <a:path h="4541331" w="11705368">
                <a:moveTo>
                  <a:pt x="0" y="0"/>
                </a:moveTo>
                <a:lnTo>
                  <a:pt x="11705368" y="0"/>
                </a:lnTo>
                <a:lnTo>
                  <a:pt x="11705368" y="4541331"/>
                </a:lnTo>
                <a:lnTo>
                  <a:pt x="0" y="4541331"/>
                </a:lnTo>
                <a:lnTo>
                  <a:pt x="0" y="0"/>
                </a:lnTo>
                <a:close/>
              </a:path>
            </a:pathLst>
          </a:custGeom>
          <a:blipFill>
            <a:blip r:embed="rId4"/>
            <a:stretch>
              <a:fillRect l="0" t="0" r="0" b="0"/>
            </a:stretch>
          </a:blipFill>
        </p:spPr>
      </p:sp>
      <p:sp>
        <p:nvSpPr>
          <p:cNvPr name="TextBox 17" id="17"/>
          <p:cNvSpPr txBox="true"/>
          <p:nvPr/>
        </p:nvSpPr>
        <p:spPr>
          <a:xfrm rot="0">
            <a:off x="4354017" y="248715"/>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SIMULATOR</a:t>
            </a:r>
          </a:p>
        </p:txBody>
      </p:sp>
      <p:sp>
        <p:nvSpPr>
          <p:cNvPr name="TextBox 18" id="18"/>
          <p:cNvSpPr txBox="true"/>
          <p:nvPr/>
        </p:nvSpPr>
        <p:spPr>
          <a:xfrm rot="0">
            <a:off x="1893446" y="7173058"/>
            <a:ext cx="14501108" cy="1056226"/>
          </a:xfrm>
          <a:prstGeom prst="rect">
            <a:avLst/>
          </a:prstGeom>
        </p:spPr>
        <p:txBody>
          <a:bodyPr anchor="t" rtlCol="false" tIns="0" lIns="0" bIns="0" rIns="0">
            <a:spAutoFit/>
          </a:bodyPr>
          <a:lstStyle/>
          <a:p>
            <a:pPr algn="l" marL="653242" indent="-326621" lvl="1">
              <a:lnSpc>
                <a:spcPts val="4235"/>
              </a:lnSpc>
              <a:buFont typeface="Arial"/>
              <a:buChar char="•"/>
            </a:pPr>
            <a:r>
              <a:rPr lang="en-US" sz="3025">
                <a:solidFill>
                  <a:srgbClr val="182F5B"/>
                </a:solidFill>
                <a:latin typeface="Canva Sans"/>
                <a:ea typeface="Canva Sans"/>
                <a:cs typeface="Canva Sans"/>
                <a:sym typeface="Canva Sans"/>
              </a:rPr>
              <a:t>Dùng để theo </a:t>
            </a:r>
            <a:r>
              <a:rPr lang="en-US" sz="3025">
                <a:solidFill>
                  <a:srgbClr val="182F5B"/>
                </a:solidFill>
                <a:latin typeface="Canva Sans"/>
                <a:ea typeface="Canva Sans"/>
                <a:cs typeface="Canva Sans"/>
                <a:sym typeface="Canva Sans"/>
              </a:rPr>
              <a:t>dõi tiến trình code chạy, giúp chúng ta biết được code đang chạy tới đâu hay bị treo máy.</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TextBox 2" id="2"/>
          <p:cNvSpPr txBox="true"/>
          <p:nvPr/>
        </p:nvSpPr>
        <p:spPr>
          <a:xfrm rot="0">
            <a:off x="3190149" y="7391412"/>
            <a:ext cx="12169111" cy="588394"/>
          </a:xfrm>
          <a:prstGeom prst="rect">
            <a:avLst/>
          </a:prstGeom>
        </p:spPr>
        <p:txBody>
          <a:bodyPr anchor="t" rtlCol="false" tIns="0" lIns="0" bIns="0" rIns="0">
            <a:spAutoFit/>
          </a:bodyPr>
          <a:lstStyle/>
          <a:p>
            <a:pPr algn="l" marL="746991" indent="-373495" lvl="1">
              <a:lnSpc>
                <a:spcPts val="4843"/>
              </a:lnSpc>
              <a:buFont typeface="Arial"/>
              <a:buChar char="•"/>
            </a:pPr>
            <a:r>
              <a:rPr lang="en-US" sz="3459">
                <a:solidFill>
                  <a:srgbClr val="182F5B"/>
                </a:solidFill>
                <a:latin typeface="Canva Sans"/>
                <a:ea typeface="Canva Sans"/>
                <a:cs typeface="Canva Sans"/>
                <a:sym typeface="Canva Sans"/>
              </a:rPr>
              <a:t>Hàm dùng để cập nhật các chỉ số sau ván chơi</a:t>
            </a:r>
          </a:p>
        </p:txBody>
      </p:sp>
      <p:sp>
        <p:nvSpPr>
          <p:cNvPr name="Freeform 3" id="3"/>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596235" y="7727202"/>
            <a:ext cx="1383530" cy="1383530"/>
            <a:chOff x="0" y="0"/>
            <a:chExt cx="364386" cy="364386"/>
          </a:xfrm>
        </p:grpSpPr>
        <p:sp>
          <p:nvSpPr>
            <p:cNvPr name="Freeform 5" id="5"/>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6" id="6"/>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691765" y="1176268"/>
            <a:ext cx="1383530" cy="1383530"/>
            <a:chOff x="0" y="0"/>
            <a:chExt cx="364386" cy="364386"/>
          </a:xfrm>
        </p:grpSpPr>
        <p:sp>
          <p:nvSpPr>
            <p:cNvPr name="Freeform 9" id="9"/>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0" id="10"/>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402057" y="2811477"/>
            <a:ext cx="13483887" cy="3972280"/>
          </a:xfrm>
          <a:custGeom>
            <a:avLst/>
            <a:gdLst/>
            <a:ahLst/>
            <a:cxnLst/>
            <a:rect r="r" b="b" t="t" l="l"/>
            <a:pathLst>
              <a:path h="3972280" w="13483887">
                <a:moveTo>
                  <a:pt x="0" y="0"/>
                </a:moveTo>
                <a:lnTo>
                  <a:pt x="13483886" y="0"/>
                </a:lnTo>
                <a:lnTo>
                  <a:pt x="13483886" y="3972281"/>
                </a:lnTo>
                <a:lnTo>
                  <a:pt x="0" y="3972281"/>
                </a:lnTo>
                <a:lnTo>
                  <a:pt x="0" y="0"/>
                </a:lnTo>
                <a:close/>
              </a:path>
            </a:pathLst>
          </a:custGeom>
          <a:blipFill>
            <a:blip r:embed="rId4"/>
            <a:stretch>
              <a:fillRect l="0" t="0" r="0" b="0"/>
            </a:stretch>
          </a:blipFill>
        </p:spPr>
      </p:sp>
      <p:sp>
        <p:nvSpPr>
          <p:cNvPr name="TextBox 14" id="14"/>
          <p:cNvSpPr txBox="true"/>
          <p:nvPr/>
        </p:nvSpPr>
        <p:spPr>
          <a:xfrm rot="0">
            <a:off x="4354017" y="847725"/>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STATISTICS</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7196914" y="3239794"/>
            <a:ext cx="10729850" cy="6209901"/>
          </a:xfrm>
          <a:custGeom>
            <a:avLst/>
            <a:gdLst/>
            <a:ahLst/>
            <a:cxnLst/>
            <a:rect r="r" b="b" t="t" l="l"/>
            <a:pathLst>
              <a:path h="6209901" w="10729850">
                <a:moveTo>
                  <a:pt x="0" y="0"/>
                </a:moveTo>
                <a:lnTo>
                  <a:pt x="10729850" y="0"/>
                </a:lnTo>
                <a:lnTo>
                  <a:pt x="10729850" y="6209900"/>
                </a:lnTo>
                <a:lnTo>
                  <a:pt x="0" y="6209900"/>
                </a:lnTo>
                <a:lnTo>
                  <a:pt x="0" y="0"/>
                </a:lnTo>
                <a:close/>
              </a:path>
            </a:pathLst>
          </a:custGeom>
          <a:blipFill>
            <a:blip r:embed="rId4"/>
            <a:stretch>
              <a:fillRect l="0" t="0" r="0" b="0"/>
            </a:stretch>
          </a:blipFill>
        </p:spPr>
      </p:sp>
      <p:sp>
        <p:nvSpPr>
          <p:cNvPr name="TextBox 13" id="13"/>
          <p:cNvSpPr txBox="true"/>
          <p:nvPr/>
        </p:nvSpPr>
        <p:spPr>
          <a:xfrm rot="0">
            <a:off x="268689" y="3865059"/>
            <a:ext cx="6624478" cy="3479488"/>
          </a:xfrm>
          <a:prstGeom prst="rect">
            <a:avLst/>
          </a:prstGeom>
        </p:spPr>
        <p:txBody>
          <a:bodyPr anchor="t" rtlCol="false" tIns="0" lIns="0" bIns="0" rIns="0">
            <a:spAutoFit/>
          </a:bodyPr>
          <a:lstStyle/>
          <a:p>
            <a:pPr algn="l" marL="850822" indent="-425411" lvl="1">
              <a:lnSpc>
                <a:spcPts val="5517"/>
              </a:lnSpc>
              <a:buFont typeface="Arial"/>
              <a:buChar char="•"/>
            </a:pPr>
            <a:r>
              <a:rPr lang="en-US" sz="3940">
                <a:solidFill>
                  <a:srgbClr val="182F5B"/>
                </a:solidFill>
                <a:latin typeface="Canva Sans"/>
                <a:ea typeface="Canva Sans"/>
                <a:cs typeface="Canva Sans"/>
                <a:sym typeface="Canva Sans"/>
              </a:rPr>
              <a:t>Cập</a:t>
            </a:r>
            <a:r>
              <a:rPr lang="en-US" sz="3940">
                <a:solidFill>
                  <a:srgbClr val="182F5B"/>
                </a:solidFill>
                <a:latin typeface="Canva Sans"/>
                <a:ea typeface="Canva Sans"/>
                <a:cs typeface="Canva Sans"/>
                <a:sym typeface="Canva Sans"/>
              </a:rPr>
              <a:t> nhật 4 chỉ số để cps thể sẽ thống kê tỉ lệ và chọn ra số có tỉ lệ giúp người chơi thắng cao nhất.</a:t>
            </a:r>
          </a:p>
        </p:txBody>
      </p:sp>
      <p:sp>
        <p:nvSpPr>
          <p:cNvPr name="TextBox 14" id="14"/>
          <p:cNvSpPr txBox="true"/>
          <p:nvPr/>
        </p:nvSpPr>
        <p:spPr>
          <a:xfrm rot="0">
            <a:off x="4354017" y="610501"/>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STATISTICS</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78137" y="2229819"/>
            <a:ext cx="12216325" cy="6199785"/>
          </a:xfrm>
          <a:custGeom>
            <a:avLst/>
            <a:gdLst/>
            <a:ahLst/>
            <a:cxnLst/>
            <a:rect r="r" b="b" t="t" l="l"/>
            <a:pathLst>
              <a:path h="6199785" w="12216325">
                <a:moveTo>
                  <a:pt x="0" y="0"/>
                </a:moveTo>
                <a:lnTo>
                  <a:pt x="12216325" y="0"/>
                </a:lnTo>
                <a:lnTo>
                  <a:pt x="12216325" y="6199785"/>
                </a:lnTo>
                <a:lnTo>
                  <a:pt x="0" y="6199785"/>
                </a:lnTo>
                <a:lnTo>
                  <a:pt x="0" y="0"/>
                </a:lnTo>
                <a:close/>
              </a:path>
            </a:pathLst>
          </a:custGeom>
          <a:blipFill>
            <a:blip r:embed="rId4"/>
            <a:stretch>
              <a:fillRect l="0" t="0" r="0" b="0"/>
            </a:stretch>
          </a:blipFill>
        </p:spPr>
      </p:sp>
      <p:sp>
        <p:nvSpPr>
          <p:cNvPr name="TextBox 13" id="13"/>
          <p:cNvSpPr txBox="true"/>
          <p:nvPr/>
        </p:nvSpPr>
        <p:spPr>
          <a:xfrm rot="0">
            <a:off x="4354017" y="610501"/>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STATISTICS</a:t>
            </a:r>
          </a:p>
        </p:txBody>
      </p:sp>
      <p:grpSp>
        <p:nvGrpSpPr>
          <p:cNvPr name="Group 14" id="14"/>
          <p:cNvGrpSpPr/>
          <p:nvPr/>
        </p:nvGrpSpPr>
        <p:grpSpPr>
          <a:xfrm rot="0">
            <a:off x="3377430" y="8846999"/>
            <a:ext cx="6167378" cy="1059895"/>
            <a:chOff x="0" y="0"/>
            <a:chExt cx="8223171" cy="1413193"/>
          </a:xfrm>
        </p:grpSpPr>
        <p:sp>
          <p:nvSpPr>
            <p:cNvPr name="TextBox 15" id="15"/>
            <p:cNvSpPr txBox="true"/>
            <p:nvPr/>
          </p:nvSpPr>
          <p:spPr>
            <a:xfrm rot="0">
              <a:off x="382407" y="-47625"/>
              <a:ext cx="6967830" cy="558916"/>
            </a:xfrm>
            <a:prstGeom prst="rect">
              <a:avLst/>
            </a:prstGeom>
          </p:spPr>
          <p:txBody>
            <a:bodyPr anchor="t" rtlCol="false" tIns="0" lIns="0" bIns="0" rIns="0">
              <a:spAutoFit/>
            </a:bodyPr>
            <a:lstStyle/>
            <a:p>
              <a:pPr algn="l">
                <a:lnSpc>
                  <a:spcPts val="3538"/>
                </a:lnSpc>
              </a:pPr>
              <a:r>
                <a:rPr lang="en-US" sz="2527">
                  <a:solidFill>
                    <a:srgbClr val="182F5B"/>
                  </a:solidFill>
                  <a:latin typeface="Canva Sans"/>
                  <a:ea typeface="Canva Sans"/>
                  <a:cs typeface="Canva Sans"/>
                  <a:sym typeface="Canva Sans"/>
                </a:rPr>
                <a:t>số lần xuất hiện trên đường thắng</a:t>
              </a:r>
            </a:p>
          </p:txBody>
        </p:sp>
        <p:sp>
          <p:nvSpPr>
            <p:cNvPr name="TextBox 16" id="16"/>
            <p:cNvSpPr txBox="true"/>
            <p:nvPr/>
          </p:nvSpPr>
          <p:spPr>
            <a:xfrm rot="0">
              <a:off x="0" y="854277"/>
              <a:ext cx="8223171" cy="558916"/>
            </a:xfrm>
            <a:prstGeom prst="rect">
              <a:avLst/>
            </a:prstGeom>
          </p:spPr>
          <p:txBody>
            <a:bodyPr anchor="t" rtlCol="false" tIns="0" lIns="0" bIns="0" rIns="0">
              <a:spAutoFit/>
            </a:bodyPr>
            <a:lstStyle/>
            <a:p>
              <a:pPr algn="l">
                <a:lnSpc>
                  <a:spcPts val="3538"/>
                </a:lnSpc>
              </a:pPr>
              <a:r>
                <a:rPr lang="en-US" sz="2527">
                  <a:solidFill>
                    <a:srgbClr val="182F5B"/>
                  </a:solidFill>
                  <a:latin typeface="Canva Sans"/>
                  <a:ea typeface="Canva Sans"/>
                  <a:cs typeface="Canva Sans"/>
                  <a:sym typeface="Canva Sans"/>
                </a:rPr>
                <a:t>tổng số lần xuất hiện trên phiếu thắng</a:t>
              </a:r>
            </a:p>
          </p:txBody>
        </p:sp>
        <p:sp>
          <p:nvSpPr>
            <p:cNvPr name="AutoShape 17" id="17"/>
            <p:cNvSpPr/>
            <p:nvPr/>
          </p:nvSpPr>
          <p:spPr>
            <a:xfrm>
              <a:off x="382407" y="686002"/>
              <a:ext cx="7139662" cy="0"/>
            </a:xfrm>
            <a:prstGeom prst="line">
              <a:avLst/>
            </a:prstGeom>
            <a:ln cap="flat" w="50800">
              <a:solidFill>
                <a:srgbClr val="446EB2"/>
              </a:solidFill>
              <a:prstDash val="solid"/>
              <a:headEnd type="none" len="sm" w="sm"/>
              <a:tailEnd type="none" len="sm" w="sm"/>
            </a:ln>
          </p:spPr>
        </p:sp>
      </p:grpSp>
      <p:sp>
        <p:nvSpPr>
          <p:cNvPr name="TextBox 18" id="18"/>
          <p:cNvSpPr txBox="true"/>
          <p:nvPr/>
        </p:nvSpPr>
        <p:spPr>
          <a:xfrm rot="0">
            <a:off x="1649698" y="9091197"/>
            <a:ext cx="1727733" cy="514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BCR=</a:t>
            </a:r>
          </a:p>
        </p:txBody>
      </p:sp>
      <p:sp>
        <p:nvSpPr>
          <p:cNvPr name="TextBox 19" id="19"/>
          <p:cNvSpPr txBox="true"/>
          <p:nvPr/>
        </p:nvSpPr>
        <p:spPr>
          <a:xfrm rot="0">
            <a:off x="9363075" y="9127078"/>
            <a:ext cx="1550148" cy="514350"/>
          </a:xfrm>
          <a:prstGeom prst="rect">
            <a:avLst/>
          </a:prstGeom>
        </p:spPr>
        <p:txBody>
          <a:bodyPr anchor="t" rtlCol="false" tIns="0" lIns="0" bIns="0" rIns="0">
            <a:spAutoFit/>
          </a:bodyPr>
          <a:lstStyle/>
          <a:p>
            <a:pPr algn="l">
              <a:lnSpc>
                <a:spcPts val="4200"/>
              </a:lnSpc>
            </a:pPr>
            <a:r>
              <a:rPr lang="en-US" sz="3000">
                <a:solidFill>
                  <a:srgbClr val="182F5B"/>
                </a:solidFill>
                <a:latin typeface="Canva Sans"/>
                <a:ea typeface="Canva Sans"/>
                <a:cs typeface="Canva Sans"/>
                <a:sym typeface="Canva Sans"/>
              </a:rPr>
              <a:t>* 100</a:t>
            </a:r>
          </a:p>
        </p:txBody>
      </p:sp>
      <p:sp>
        <p:nvSpPr>
          <p:cNvPr name="TextBox 20" id="20"/>
          <p:cNvSpPr txBox="true"/>
          <p:nvPr/>
        </p:nvSpPr>
        <p:spPr>
          <a:xfrm rot="0">
            <a:off x="12216325" y="3359857"/>
            <a:ext cx="5042975" cy="47815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Ý</a:t>
            </a:r>
            <a:r>
              <a:rPr lang="en-US" sz="3000">
                <a:solidFill>
                  <a:srgbClr val="182F5B"/>
                </a:solidFill>
                <a:latin typeface="Canva Sans"/>
                <a:ea typeface="Canva Sans"/>
                <a:cs typeface="Canva Sans"/>
                <a:sym typeface="Canva Sans"/>
              </a:rPr>
              <a:t> nghĩa của chỉ số BCR: Một số có thể xuất hiện nhiều trên phiếu thắng, nhưng chưa chắc nó đã nằm trong hàng/cột để giúp người chơi thắng. BCR càng cao chứng tỏ số đó là một số đáng tin tưởng để chọn.</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84942" y="8057181"/>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303058" y="-55520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536320" y="3377689"/>
            <a:ext cx="11215360" cy="4454225"/>
          </a:xfrm>
          <a:custGeom>
            <a:avLst/>
            <a:gdLst/>
            <a:ahLst/>
            <a:cxnLst/>
            <a:rect r="r" b="b" t="t" l="l"/>
            <a:pathLst>
              <a:path h="4454225" w="11215360">
                <a:moveTo>
                  <a:pt x="0" y="0"/>
                </a:moveTo>
                <a:lnTo>
                  <a:pt x="11215360" y="0"/>
                </a:lnTo>
                <a:lnTo>
                  <a:pt x="11215360" y="4454224"/>
                </a:lnTo>
                <a:lnTo>
                  <a:pt x="0" y="4454224"/>
                </a:lnTo>
                <a:lnTo>
                  <a:pt x="0" y="0"/>
                </a:lnTo>
                <a:close/>
              </a:path>
            </a:pathLst>
          </a:custGeom>
          <a:blipFill>
            <a:blip r:embed="rId4"/>
            <a:stretch>
              <a:fillRect l="0" t="0" r="0" b="0"/>
            </a:stretch>
          </a:blipFill>
        </p:spPr>
      </p:sp>
      <p:sp>
        <p:nvSpPr>
          <p:cNvPr name="TextBox 13" id="13"/>
          <p:cNvSpPr txBox="true"/>
          <p:nvPr/>
        </p:nvSpPr>
        <p:spPr>
          <a:xfrm rot="0">
            <a:off x="3033992" y="8113726"/>
            <a:ext cx="12220017" cy="1581150"/>
          </a:xfrm>
          <a:prstGeom prst="rect">
            <a:avLst/>
          </a:prstGeom>
        </p:spPr>
        <p:txBody>
          <a:bodyPr anchor="t" rtlCol="false" tIns="0" lIns="0" bIns="0" rIns="0">
            <a:spAutoFit/>
          </a:bodyPr>
          <a:lstStyle/>
          <a:p>
            <a:pPr algn="l">
              <a:lnSpc>
                <a:spcPts val="4200"/>
              </a:lnSpc>
            </a:pPr>
            <a:r>
              <a:rPr lang="en-US" sz="3000">
                <a:solidFill>
                  <a:srgbClr val="182F5B"/>
                </a:solidFill>
                <a:latin typeface="Canva Sans"/>
                <a:ea typeface="Canva Sans"/>
                <a:cs typeface="Canva Sans"/>
                <a:sym typeface="Canva Sans"/>
              </a:rPr>
              <a:t>In</a:t>
            </a:r>
            <a:r>
              <a:rPr lang="en-US" sz="3000">
                <a:solidFill>
                  <a:srgbClr val="182F5B"/>
                </a:solidFill>
                <a:latin typeface="Canva Sans"/>
                <a:ea typeface="Canva Sans"/>
                <a:cs typeface="Canva Sans"/>
                <a:sym typeface="Canva Sans"/>
              </a:rPr>
              <a:t> ra ma trận 5x5 thể hiện số lần thắng tại mỗi vị trí. Thông thường, các ô ở các hàng/cột không chứa ô đặc biệt X sẽ có con số cao hơn hẳn.</a:t>
            </a:r>
          </a:p>
        </p:txBody>
      </p:sp>
      <p:sp>
        <p:nvSpPr>
          <p:cNvPr name="TextBox 14" id="14"/>
          <p:cNvSpPr txBox="true"/>
          <p:nvPr/>
        </p:nvSpPr>
        <p:spPr>
          <a:xfrm rot="0">
            <a:off x="4354017" y="610501"/>
            <a:ext cx="9579966"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STATISTICS</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408036" y="1868033"/>
            <a:ext cx="10907109" cy="3635703"/>
          </a:xfrm>
          <a:custGeom>
            <a:avLst/>
            <a:gdLst/>
            <a:ahLst/>
            <a:cxnLst/>
            <a:rect r="r" b="b" t="t" l="l"/>
            <a:pathLst>
              <a:path h="3635703" w="10907109">
                <a:moveTo>
                  <a:pt x="0" y="0"/>
                </a:moveTo>
                <a:lnTo>
                  <a:pt x="10907109" y="0"/>
                </a:lnTo>
                <a:lnTo>
                  <a:pt x="10907109" y="3635703"/>
                </a:lnTo>
                <a:lnTo>
                  <a:pt x="0" y="3635703"/>
                </a:lnTo>
                <a:lnTo>
                  <a:pt x="0" y="0"/>
                </a:lnTo>
                <a:close/>
              </a:path>
            </a:pathLst>
          </a:custGeom>
          <a:blipFill>
            <a:blip r:embed="rId4"/>
            <a:stretch>
              <a:fillRect l="0" t="0" r="0" b="0"/>
            </a:stretch>
          </a:blipFill>
        </p:spPr>
      </p:sp>
      <p:sp>
        <p:nvSpPr>
          <p:cNvPr name="TextBox 17" id="17"/>
          <p:cNvSpPr txBox="true"/>
          <p:nvPr/>
        </p:nvSpPr>
        <p:spPr>
          <a:xfrm rot="0">
            <a:off x="3408036" y="294545"/>
            <a:ext cx="11134992"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WINCONDITION</a:t>
            </a:r>
          </a:p>
        </p:txBody>
      </p:sp>
      <p:sp>
        <p:nvSpPr>
          <p:cNvPr name="TextBox 18" id="18"/>
          <p:cNvSpPr txBox="true"/>
          <p:nvPr/>
        </p:nvSpPr>
        <p:spPr>
          <a:xfrm rot="0">
            <a:off x="3190149" y="6020749"/>
            <a:ext cx="10907109" cy="3181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Hàm </a:t>
            </a:r>
            <a:r>
              <a:rPr lang="en-US" sz="3000">
                <a:solidFill>
                  <a:srgbClr val="182F5B"/>
                </a:solidFill>
                <a:latin typeface="Canva Sans"/>
                <a:ea typeface="Canva Sans"/>
                <a:cs typeface="Canva Sans"/>
                <a:sym typeface="Canva Sans"/>
              </a:rPr>
              <a:t>dùng để kiểm tra hàng ngang</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Nếu hàng đó có đúng 5 số được quản trò gọi thì người chơi thắng.</a:t>
            </a:r>
          </a:p>
          <a:p>
            <a:pPr algn="l" marL="1295400" indent="-431800" lvl="2">
              <a:lnSpc>
                <a:spcPts val="4200"/>
              </a:lnSpc>
              <a:buFont typeface="Arial"/>
              <a:buChar char="⚬"/>
            </a:pPr>
            <a:r>
              <a:rPr lang="en-US" sz="3000">
                <a:solidFill>
                  <a:srgbClr val="182F5B"/>
                </a:solidFill>
                <a:latin typeface="Canva Sans"/>
                <a:ea typeface="Canva Sans"/>
                <a:cs typeface="Canva Sans"/>
                <a:sym typeface="Canva Sans"/>
              </a:rPr>
              <a:t>Nếu hàng đó có được 4 số và 1 dấu X trò chơi vẫn tiếp tục.</a:t>
            </a:r>
          </a:p>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Làm tương tự như khi kiểm tra hàng dọc </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625145" y="1794249"/>
            <a:ext cx="12265001" cy="7251682"/>
          </a:xfrm>
          <a:custGeom>
            <a:avLst/>
            <a:gdLst/>
            <a:ahLst/>
            <a:cxnLst/>
            <a:rect r="r" b="b" t="t" l="l"/>
            <a:pathLst>
              <a:path h="7251682" w="12265001">
                <a:moveTo>
                  <a:pt x="0" y="0"/>
                </a:moveTo>
                <a:lnTo>
                  <a:pt x="12265001" y="0"/>
                </a:lnTo>
                <a:lnTo>
                  <a:pt x="12265001" y="7251682"/>
                </a:lnTo>
                <a:lnTo>
                  <a:pt x="0" y="7251682"/>
                </a:lnTo>
                <a:lnTo>
                  <a:pt x="0" y="0"/>
                </a:lnTo>
                <a:close/>
              </a:path>
            </a:pathLst>
          </a:custGeom>
          <a:blipFill>
            <a:blip r:embed="rId4"/>
            <a:stretch>
              <a:fillRect l="0" t="0" r="0" b="0"/>
            </a:stretch>
          </a:blipFill>
        </p:spPr>
      </p:sp>
      <p:sp>
        <p:nvSpPr>
          <p:cNvPr name="TextBox 17" id="17"/>
          <p:cNvSpPr txBox="true"/>
          <p:nvPr/>
        </p:nvSpPr>
        <p:spPr>
          <a:xfrm rot="0">
            <a:off x="4091664" y="9361931"/>
            <a:ext cx="9331963" cy="514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82F5B"/>
                </a:solidFill>
                <a:latin typeface="Canva Sans"/>
                <a:ea typeface="Canva Sans"/>
                <a:cs typeface="Canva Sans"/>
                <a:sym typeface="Canva Sans"/>
              </a:rPr>
              <a:t> Hàm </a:t>
            </a:r>
            <a:r>
              <a:rPr lang="en-US" sz="3000">
                <a:solidFill>
                  <a:srgbClr val="182F5B"/>
                </a:solidFill>
                <a:latin typeface="Canva Sans"/>
                <a:ea typeface="Canva Sans"/>
                <a:cs typeface="Canva Sans"/>
                <a:sym typeface="Canva Sans"/>
              </a:rPr>
              <a:t>dùng để trả về tọa độ của các ô đã thắng </a:t>
            </a:r>
          </a:p>
        </p:txBody>
      </p:sp>
      <p:sp>
        <p:nvSpPr>
          <p:cNvPr name="TextBox 18" id="18"/>
          <p:cNvSpPr txBox="true"/>
          <p:nvPr/>
        </p:nvSpPr>
        <p:spPr>
          <a:xfrm rot="0">
            <a:off x="3408036" y="294545"/>
            <a:ext cx="11134992"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WINCONDITION</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190149" y="2122534"/>
            <a:ext cx="12265847" cy="3549763"/>
          </a:xfrm>
          <a:custGeom>
            <a:avLst/>
            <a:gdLst/>
            <a:ahLst/>
            <a:cxnLst/>
            <a:rect r="r" b="b" t="t" l="l"/>
            <a:pathLst>
              <a:path h="3549763" w="12265847">
                <a:moveTo>
                  <a:pt x="0" y="0"/>
                </a:moveTo>
                <a:lnTo>
                  <a:pt x="12265847" y="0"/>
                </a:lnTo>
                <a:lnTo>
                  <a:pt x="12265847" y="3549763"/>
                </a:lnTo>
                <a:lnTo>
                  <a:pt x="0" y="3549763"/>
                </a:lnTo>
                <a:lnTo>
                  <a:pt x="0" y="0"/>
                </a:lnTo>
                <a:close/>
              </a:path>
            </a:pathLst>
          </a:custGeom>
          <a:blipFill>
            <a:blip r:embed="rId4"/>
            <a:stretch>
              <a:fillRect l="0" t="0" r="0" b="0"/>
            </a:stretch>
          </a:blipFill>
        </p:spPr>
      </p:sp>
      <p:sp>
        <p:nvSpPr>
          <p:cNvPr name="TextBox 17" id="17"/>
          <p:cNvSpPr txBox="true"/>
          <p:nvPr/>
        </p:nvSpPr>
        <p:spPr>
          <a:xfrm rot="0">
            <a:off x="3408036" y="294545"/>
            <a:ext cx="11134992"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GRIDSEARCH</a:t>
            </a:r>
          </a:p>
        </p:txBody>
      </p:sp>
      <p:sp>
        <p:nvSpPr>
          <p:cNvPr name="TextBox 18" id="18"/>
          <p:cNvSpPr txBox="true"/>
          <p:nvPr/>
        </p:nvSpPr>
        <p:spPr>
          <a:xfrm rot="0">
            <a:off x="2985999" y="6038352"/>
            <a:ext cx="12674148"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82F5B"/>
                </a:solidFill>
                <a:latin typeface="Canva Sans"/>
                <a:ea typeface="Canva Sans"/>
                <a:cs typeface="Canva Sans"/>
                <a:sym typeface="Canva Sans"/>
              </a:rPr>
              <a:t>Nó chạy thử nghiệm numGames ván (ví dụ 1000 ván) với đúng một bộ (b, x, k) để xem kết quả thống kê có ổn định không.</a:t>
            </a:r>
          </a:p>
          <a:p>
            <a:pPr algn="l">
              <a:lnSpc>
                <a:spcPts val="4759"/>
              </a:lnSpc>
            </a:pP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007703" y="2314570"/>
            <a:ext cx="14272594" cy="3942804"/>
          </a:xfrm>
          <a:custGeom>
            <a:avLst/>
            <a:gdLst/>
            <a:ahLst/>
            <a:cxnLst/>
            <a:rect r="r" b="b" t="t" l="l"/>
            <a:pathLst>
              <a:path h="3942804" w="14272594">
                <a:moveTo>
                  <a:pt x="0" y="0"/>
                </a:moveTo>
                <a:lnTo>
                  <a:pt x="14272594" y="0"/>
                </a:lnTo>
                <a:lnTo>
                  <a:pt x="14272594" y="3942804"/>
                </a:lnTo>
                <a:lnTo>
                  <a:pt x="0" y="3942804"/>
                </a:lnTo>
                <a:lnTo>
                  <a:pt x="0" y="0"/>
                </a:lnTo>
                <a:close/>
              </a:path>
            </a:pathLst>
          </a:custGeom>
          <a:blipFill>
            <a:blip r:embed="rId4"/>
            <a:stretch>
              <a:fillRect l="0" t="0" r="0" b="0"/>
            </a:stretch>
          </a:blipFill>
        </p:spPr>
      </p:sp>
      <p:sp>
        <p:nvSpPr>
          <p:cNvPr name="TextBox 17" id="17"/>
          <p:cNvSpPr txBox="true"/>
          <p:nvPr/>
        </p:nvSpPr>
        <p:spPr>
          <a:xfrm rot="0">
            <a:off x="3408036" y="294545"/>
            <a:ext cx="11134992"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GRIDSEARCH</a:t>
            </a:r>
          </a:p>
        </p:txBody>
      </p:sp>
      <p:sp>
        <p:nvSpPr>
          <p:cNvPr name="TextBox 18" id="18"/>
          <p:cNvSpPr txBox="true"/>
          <p:nvPr/>
        </p:nvSpPr>
        <p:spPr>
          <a:xfrm rot="0">
            <a:off x="2249350" y="6638427"/>
            <a:ext cx="13789300" cy="17805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82F5B"/>
                </a:solidFill>
                <a:latin typeface="Canva Sans"/>
                <a:ea typeface="Canva Sans"/>
                <a:cs typeface="Canva Sans"/>
                <a:sym typeface="Canva Sans"/>
              </a:rPr>
              <a:t>Nó tạo</a:t>
            </a:r>
            <a:r>
              <a:rPr lang="en-US" sz="3399">
                <a:solidFill>
                  <a:srgbClr val="182F5B"/>
                </a:solidFill>
                <a:latin typeface="Canva Sans"/>
                <a:ea typeface="Canva Sans"/>
                <a:cs typeface="Canva Sans"/>
                <a:sym typeface="Canva Sans"/>
              </a:rPr>
              <a:t> ra một "mạng lưới" (grid) các tham số. Ví dụ: thử b từ 0.5 đến 1.5, x từ 1% đến 10%.</a:t>
            </a:r>
          </a:p>
          <a:p>
            <a:pPr algn="ctr">
              <a:lnSpc>
                <a:spcPts val="4759"/>
              </a:lnSpc>
            </a:pP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Freeform 2" id="2"/>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596235" y="7727202"/>
            <a:ext cx="1383530" cy="1383530"/>
            <a:chOff x="0" y="0"/>
            <a:chExt cx="364386" cy="364386"/>
          </a:xfrm>
        </p:grpSpPr>
        <p:sp>
          <p:nvSpPr>
            <p:cNvPr name="Freeform 4" id="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5" id="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91765" y="1176268"/>
            <a:ext cx="1383530" cy="1383530"/>
            <a:chOff x="0" y="0"/>
            <a:chExt cx="364386" cy="364386"/>
          </a:xfrm>
        </p:grpSpPr>
        <p:sp>
          <p:nvSpPr>
            <p:cNvPr name="Freeform 8" id="8"/>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9" id="9"/>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54830"/>
            <a:ext cx="1383530" cy="1383530"/>
            <a:chOff x="0" y="0"/>
            <a:chExt cx="364386" cy="364386"/>
          </a:xfrm>
        </p:grpSpPr>
        <p:sp>
          <p:nvSpPr>
            <p:cNvPr name="Freeform 11" id="11"/>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2" id="12"/>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54830" y="9258300"/>
            <a:ext cx="1383530" cy="1383530"/>
            <a:chOff x="0" y="0"/>
            <a:chExt cx="364386" cy="364386"/>
          </a:xfrm>
        </p:grpSpPr>
        <p:sp>
          <p:nvSpPr>
            <p:cNvPr name="Freeform 14" id="14"/>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5" id="15"/>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040872" y="1913863"/>
            <a:ext cx="11869320" cy="5904987"/>
          </a:xfrm>
          <a:custGeom>
            <a:avLst/>
            <a:gdLst/>
            <a:ahLst/>
            <a:cxnLst/>
            <a:rect r="r" b="b" t="t" l="l"/>
            <a:pathLst>
              <a:path h="5904987" w="11869320">
                <a:moveTo>
                  <a:pt x="0" y="0"/>
                </a:moveTo>
                <a:lnTo>
                  <a:pt x="11869321" y="0"/>
                </a:lnTo>
                <a:lnTo>
                  <a:pt x="11869321" y="5904987"/>
                </a:lnTo>
                <a:lnTo>
                  <a:pt x="0" y="5904987"/>
                </a:lnTo>
                <a:lnTo>
                  <a:pt x="0" y="0"/>
                </a:lnTo>
                <a:close/>
              </a:path>
            </a:pathLst>
          </a:custGeom>
          <a:blipFill>
            <a:blip r:embed="rId4"/>
            <a:stretch>
              <a:fillRect l="0" t="0" r="0" b="0"/>
            </a:stretch>
          </a:blipFill>
        </p:spPr>
      </p:sp>
      <p:sp>
        <p:nvSpPr>
          <p:cNvPr name="TextBox 17" id="17"/>
          <p:cNvSpPr txBox="true"/>
          <p:nvPr/>
        </p:nvSpPr>
        <p:spPr>
          <a:xfrm rot="0">
            <a:off x="3408036" y="294545"/>
            <a:ext cx="11134992" cy="1619318"/>
          </a:xfrm>
          <a:prstGeom prst="rect">
            <a:avLst/>
          </a:prstGeom>
        </p:spPr>
        <p:txBody>
          <a:bodyPr anchor="t" rtlCol="false" tIns="0" lIns="0" bIns="0" rIns="0">
            <a:spAutoFit/>
          </a:bodyPr>
          <a:lstStyle/>
          <a:p>
            <a:pPr algn="ctr">
              <a:lnSpc>
                <a:spcPts val="13253"/>
              </a:lnSpc>
            </a:pPr>
            <a:r>
              <a:rPr lang="en-US" b="true" sz="9466">
                <a:solidFill>
                  <a:srgbClr val="182F5B"/>
                </a:solidFill>
                <a:latin typeface="Montserrat Ultra-Bold"/>
                <a:ea typeface="Montserrat Ultra-Bold"/>
                <a:cs typeface="Montserrat Ultra-Bold"/>
                <a:sym typeface="Montserrat Ultra-Bold"/>
              </a:rPr>
              <a:t>GRIDSEARCH</a:t>
            </a:r>
          </a:p>
        </p:txBody>
      </p:sp>
      <p:sp>
        <p:nvSpPr>
          <p:cNvPr name="TextBox 18" id="18"/>
          <p:cNvSpPr txBox="true"/>
          <p:nvPr/>
        </p:nvSpPr>
        <p:spPr>
          <a:xfrm rot="0">
            <a:off x="2165618" y="8030940"/>
            <a:ext cx="13956764" cy="17805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82F5B"/>
                </a:solidFill>
                <a:latin typeface="Canva Sans"/>
                <a:ea typeface="Canva Sans"/>
                <a:cs typeface="Canva Sans"/>
                <a:sym typeface="Canva Sans"/>
              </a:rPr>
              <a:t>Hàm</a:t>
            </a:r>
            <a:r>
              <a:rPr lang="en-US" sz="3399">
                <a:solidFill>
                  <a:srgbClr val="182F5B"/>
                </a:solidFill>
                <a:latin typeface="Canva Sans"/>
                <a:ea typeface="Canva Sans"/>
                <a:cs typeface="Canva Sans"/>
                <a:sym typeface="Canva Sans"/>
              </a:rPr>
              <a:t> này giúp kết luận được: "Với giá vé này, nếu muốn luôn có lãi thì hệ số thưởng b không được vượt quá bao nhiêu".</a:t>
            </a:r>
          </a:p>
          <a:p>
            <a:pPr algn="l">
              <a:lnSpc>
                <a:spcPts val="4759"/>
              </a:lnSpc>
            </a:pP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8FDFF"/>
        </a:solidFill>
      </p:bgPr>
    </p:bg>
    <p:spTree>
      <p:nvGrpSpPr>
        <p:cNvPr id="1" name=""/>
        <p:cNvGrpSpPr/>
        <p:nvPr/>
      </p:nvGrpSpPr>
      <p:grpSpPr>
        <a:xfrm>
          <a:off x="0" y="0"/>
          <a:ext cx="0" cy="0"/>
          <a:chOff x="0" y="0"/>
          <a:chExt cx="0" cy="0"/>
        </a:xfrm>
      </p:grpSpPr>
      <p:sp>
        <p:nvSpPr>
          <p:cNvPr name="TextBox 2" id="2"/>
          <p:cNvSpPr txBox="true"/>
          <p:nvPr/>
        </p:nvSpPr>
        <p:spPr>
          <a:xfrm rot="0">
            <a:off x="2462848" y="3892730"/>
            <a:ext cx="13362304" cy="2253876"/>
          </a:xfrm>
          <a:prstGeom prst="rect">
            <a:avLst/>
          </a:prstGeom>
        </p:spPr>
        <p:txBody>
          <a:bodyPr anchor="t" rtlCol="false" tIns="0" lIns="0" bIns="0" rIns="0">
            <a:spAutoFit/>
          </a:bodyPr>
          <a:lstStyle/>
          <a:p>
            <a:pPr algn="ctr">
              <a:lnSpc>
                <a:spcPts val="18485"/>
              </a:lnSpc>
            </a:pPr>
            <a:r>
              <a:rPr lang="en-US" b="true" sz="13204">
                <a:solidFill>
                  <a:srgbClr val="182F5B"/>
                </a:solidFill>
                <a:latin typeface="Montserrat Ultra-Bold"/>
                <a:ea typeface="Montserrat Ultra-Bold"/>
                <a:cs typeface="Montserrat Ultra-Bold"/>
                <a:sym typeface="Montserrat Ultra-Bold"/>
              </a:rPr>
              <a:t>THANK YOU</a:t>
            </a:r>
          </a:p>
        </p:txBody>
      </p:sp>
      <p:sp>
        <p:nvSpPr>
          <p:cNvPr name="Freeform 3" id="3"/>
          <p:cNvSpPr/>
          <p:nvPr/>
        </p:nvSpPr>
        <p:spPr>
          <a:xfrm flipH="false" flipV="false" rot="0">
            <a:off x="-779735" y="-916993"/>
            <a:ext cx="3969884" cy="2785026"/>
          </a:xfrm>
          <a:custGeom>
            <a:avLst/>
            <a:gdLst/>
            <a:ahLst/>
            <a:cxnLst/>
            <a:rect r="r" b="b" t="t" l="l"/>
            <a:pathLst>
              <a:path h="2785026" w="3969884">
                <a:moveTo>
                  <a:pt x="0" y="0"/>
                </a:moveTo>
                <a:lnTo>
                  <a:pt x="3969884" y="0"/>
                </a:lnTo>
                <a:lnTo>
                  <a:pt x="3969884" y="2785026"/>
                </a:lnTo>
                <a:lnTo>
                  <a:pt x="0" y="2785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5097851" y="8418967"/>
            <a:ext cx="3969884" cy="2785026"/>
          </a:xfrm>
          <a:custGeom>
            <a:avLst/>
            <a:gdLst/>
            <a:ahLst/>
            <a:cxnLst/>
            <a:rect r="r" b="b" t="t" l="l"/>
            <a:pathLst>
              <a:path h="2785026" w="3969884">
                <a:moveTo>
                  <a:pt x="3969884" y="2785026"/>
                </a:moveTo>
                <a:lnTo>
                  <a:pt x="0" y="2785026"/>
                </a:lnTo>
                <a:lnTo>
                  <a:pt x="0" y="0"/>
                </a:lnTo>
                <a:lnTo>
                  <a:pt x="3969884" y="0"/>
                </a:lnTo>
                <a:lnTo>
                  <a:pt x="3969884" y="27850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1765" y="1176268"/>
            <a:ext cx="1383530" cy="1383530"/>
            <a:chOff x="0" y="0"/>
            <a:chExt cx="364386" cy="364386"/>
          </a:xfrm>
        </p:grpSpPr>
        <p:sp>
          <p:nvSpPr>
            <p:cNvPr name="Freeform 6" id="6"/>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7" id="7"/>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6235" y="7727202"/>
            <a:ext cx="1383530" cy="1383530"/>
            <a:chOff x="0" y="0"/>
            <a:chExt cx="364386" cy="364386"/>
          </a:xfrm>
        </p:grpSpPr>
        <p:sp>
          <p:nvSpPr>
            <p:cNvPr name="Freeform 9" id="9"/>
            <p:cNvSpPr/>
            <p:nvPr/>
          </p:nvSpPr>
          <p:spPr>
            <a:xfrm flipH="false" flipV="false" rot="0">
              <a:off x="0" y="0"/>
              <a:ext cx="364386" cy="364386"/>
            </a:xfrm>
            <a:custGeom>
              <a:avLst/>
              <a:gdLst/>
              <a:ahLst/>
              <a:cxnLst/>
              <a:rect r="r" b="b" t="t" l="l"/>
              <a:pathLst>
                <a:path h="364386" w="364386">
                  <a:moveTo>
                    <a:pt x="0" y="0"/>
                  </a:moveTo>
                  <a:lnTo>
                    <a:pt x="364386" y="0"/>
                  </a:lnTo>
                  <a:lnTo>
                    <a:pt x="364386" y="364386"/>
                  </a:lnTo>
                  <a:lnTo>
                    <a:pt x="0" y="364386"/>
                  </a:lnTo>
                  <a:close/>
                </a:path>
              </a:pathLst>
            </a:custGeom>
            <a:solidFill>
              <a:srgbClr val="446EB2"/>
            </a:solidFill>
          </p:spPr>
        </p:sp>
        <p:sp>
          <p:nvSpPr>
            <p:cNvPr name="TextBox 10" id="10"/>
            <p:cNvSpPr txBox="true"/>
            <p:nvPr/>
          </p:nvSpPr>
          <p:spPr>
            <a:xfrm>
              <a:off x="0" y="-38100"/>
              <a:ext cx="364386" cy="40248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243781" y="7703002"/>
            <a:ext cx="3272481" cy="3272481"/>
            <a:chOff x="0" y="0"/>
            <a:chExt cx="861888" cy="861888"/>
          </a:xfrm>
        </p:grpSpPr>
        <p:sp>
          <p:nvSpPr>
            <p:cNvPr name="Freeform 12" id="12"/>
            <p:cNvSpPr/>
            <p:nvPr/>
          </p:nvSpPr>
          <p:spPr>
            <a:xfrm flipH="false" flipV="false" rot="0">
              <a:off x="0" y="0"/>
              <a:ext cx="861888" cy="861888"/>
            </a:xfrm>
            <a:custGeom>
              <a:avLst/>
              <a:gdLst/>
              <a:ahLst/>
              <a:cxnLst/>
              <a:rect r="r" b="b" t="t" l="l"/>
              <a:pathLst>
                <a:path h="861888" w="861888">
                  <a:moveTo>
                    <a:pt x="0" y="0"/>
                  </a:moveTo>
                  <a:lnTo>
                    <a:pt x="861888" y="0"/>
                  </a:lnTo>
                  <a:lnTo>
                    <a:pt x="861888" y="861888"/>
                  </a:lnTo>
                  <a:lnTo>
                    <a:pt x="0" y="861888"/>
                  </a:lnTo>
                  <a:close/>
                </a:path>
              </a:pathLst>
            </a:custGeom>
            <a:solidFill>
              <a:srgbClr val="446EB2"/>
            </a:solidFill>
          </p:spPr>
        </p:sp>
        <p:sp>
          <p:nvSpPr>
            <p:cNvPr name="TextBox 13" id="13"/>
            <p:cNvSpPr txBox="true"/>
            <p:nvPr/>
          </p:nvSpPr>
          <p:spPr>
            <a:xfrm>
              <a:off x="0" y="-38100"/>
              <a:ext cx="861888" cy="899988"/>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7259300" y="-688483"/>
            <a:ext cx="3272481" cy="3272481"/>
            <a:chOff x="0" y="0"/>
            <a:chExt cx="861888" cy="861888"/>
          </a:xfrm>
        </p:grpSpPr>
        <p:sp>
          <p:nvSpPr>
            <p:cNvPr name="Freeform 15" id="15"/>
            <p:cNvSpPr/>
            <p:nvPr/>
          </p:nvSpPr>
          <p:spPr>
            <a:xfrm flipH="false" flipV="false" rot="0">
              <a:off x="0" y="0"/>
              <a:ext cx="861888" cy="861888"/>
            </a:xfrm>
            <a:custGeom>
              <a:avLst/>
              <a:gdLst/>
              <a:ahLst/>
              <a:cxnLst/>
              <a:rect r="r" b="b" t="t" l="l"/>
              <a:pathLst>
                <a:path h="861888" w="861888">
                  <a:moveTo>
                    <a:pt x="0" y="0"/>
                  </a:moveTo>
                  <a:lnTo>
                    <a:pt x="861888" y="0"/>
                  </a:lnTo>
                  <a:lnTo>
                    <a:pt x="861888" y="861888"/>
                  </a:lnTo>
                  <a:lnTo>
                    <a:pt x="0" y="861888"/>
                  </a:lnTo>
                  <a:close/>
                </a:path>
              </a:pathLst>
            </a:custGeom>
            <a:solidFill>
              <a:srgbClr val="446EB2"/>
            </a:solidFill>
          </p:spPr>
        </p:sp>
        <p:sp>
          <p:nvSpPr>
            <p:cNvPr name="TextBox 16" id="16"/>
            <p:cNvSpPr txBox="true"/>
            <p:nvPr/>
          </p:nvSpPr>
          <p:spPr>
            <a:xfrm>
              <a:off x="0" y="-38100"/>
              <a:ext cx="861888" cy="899988"/>
            </a:xfrm>
            <a:prstGeom prst="rect">
              <a:avLst/>
            </a:prstGeom>
          </p:spPr>
          <p:txBody>
            <a:bodyPr anchor="ctr" rtlCol="false" tIns="50800" lIns="50800" bIns="50800" rIns="50800"/>
            <a:lstStyle/>
            <a:p>
              <a:pPr algn="ctr">
                <a:lnSpc>
                  <a:spcPts val="2659"/>
                </a:lnSpc>
              </a:pP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DAHIqw_4X7w</dc:identifier>
  <dcterms:modified xsi:type="dcterms:W3CDTF">2011-08-01T06:04:30Z</dcterms:modified>
  <cp:revision>1</cp:revision>
  <dc:title>Mini Project</dc:title>
</cp:coreProperties>
</file>